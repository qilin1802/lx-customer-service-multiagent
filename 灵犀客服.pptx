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x-customer-servi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x-customer-servi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1143000"/>
            <a:ext cx="10982325" cy="5153025"/>
            <a:chOff x="609600" y="1143000"/>
            <a:chExt cx="10982325" cy="5153025"/>
          </a:xfrm>
        </p:grpSpPr>
        <p:sp>
          <p:nvSpPr>
            <p:cNvPr id="3" name="Line 3"/>
            <p:cNvSpPr/>
            <p:nvPr/>
          </p:nvSpPr>
          <p:spPr>
            <a:xfrm>
              <a:off x="609600" y="114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628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09600" y="1143000"/>
              <a:ext cx="9525" cy="5143500"/>
            </a:xfrm>
            <a:custGeom>
              <a:avLst/>
              <a:gdLst/>
              <a:ahLst/>
              <a:cxnLst/>
              <a:rect l="l" t="t" r="r" b="b"/>
              <a:pathLst>
                <a:path w="9525" h="5143500">
                  <a:moveTo>
                    <a:pt x="0" y="0"/>
                  </a:moveTo>
                  <a:lnTo>
                    <a:pt x="0" y="5143500"/>
                  </a:lnTo>
                </a:path>
              </a:pathLst>
            </a:custGeom>
            <a:noFill/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582400" y="1143000"/>
              <a:ext cx="9525" cy="5143500"/>
            </a:xfrm>
            <a:custGeom>
              <a:avLst/>
              <a:gdLst/>
              <a:ahLst/>
              <a:cxnLst/>
              <a:rect l="l" t="t" r="r" b="b"/>
              <a:pathLst>
                <a:path w="9525" h="5143500">
                  <a:moveTo>
                    <a:pt x="0" y="0"/>
                  </a:moveTo>
                  <a:lnTo>
                    <a:pt x="0" y="5143500"/>
                  </a:lnTo>
                </a:path>
              </a:pathLst>
            </a:custGeom>
            <a:noFill/>
            <a:ln w="9525">
              <a:solidFill>
                <a:schemeClr val="accent3">
                  <a:alpha val="50000"/>
                </a:schemeClr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521018"/>
              <a:ext cx="4332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GOAI · AI 架构大赛 / 智能客服自主闭环赛道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01 / 12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0550" y="2902268"/>
            <a:ext cx="11414463" cy="2038349"/>
            <a:chOff x="590550" y="2902268"/>
            <a:chExt cx="11414463" cy="2038349"/>
          </a:xfrm>
        </p:grpSpPr>
        <p:sp>
          <p:nvSpPr>
            <p:cNvPr id="11" name="TextBox 11"/>
            <p:cNvSpPr txBox="1"/>
            <p:nvPr/>
          </p:nvSpPr>
          <p:spPr>
            <a:xfrm>
              <a:off x="640842" y="2902268"/>
              <a:ext cx="5916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MULTI-AGENT CUSTOMER SERVICE · AGENTTEAMS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0550" y="3561398"/>
              <a:ext cx="11414463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spc="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灵犀客服 · 多 Agent 自主闭环系统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7220" y="4500562"/>
              <a:ext cx="45662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从多渠道工单聚合到知识沉淀反哺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5041582"/>
            <a:ext cx="5798575" cy="620269"/>
            <a:chOff x="601218" y="5041582"/>
            <a:chExt cx="5798575" cy="620269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5041582"/>
              <a:ext cx="579857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 AgentTeams 的 6 智能体客服闭环 —— 已跑通测试工单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2742" y="5397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方案答辩 · 2026.08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0" y="4569142"/>
            <a:ext cx="4762500" cy="764858"/>
            <a:chOff x="6667500" y="4569142"/>
            <a:chExt cx="4762500" cy="764858"/>
          </a:xfrm>
        </p:grpSpPr>
        <p:sp>
          <p:nvSpPr>
            <p:cNvPr id="18" name="Rectangle 18"/>
            <p:cNvSpPr/>
            <p:nvPr/>
          </p:nvSpPr>
          <p:spPr>
            <a:xfrm>
              <a:off x="6667500" y="4762500"/>
              <a:ext cx="1428750" cy="5715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44187" y="4950142"/>
              <a:ext cx="675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 Agent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096250" y="5048250"/>
              <a:ext cx="381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477250" y="4762500"/>
              <a:ext cx="142875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03030" y="4950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闭环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06000" y="5048250"/>
              <a:ext cx="3810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287000" y="4762500"/>
              <a:ext cx="1143000" cy="5715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669905" y="4950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66966" y="4569142"/>
              <a:ext cx="829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WORKERS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35136" y="4569142"/>
              <a:ext cx="5129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LOOP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37978" y="4569142"/>
              <a:ext cx="1041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KNOWLEDGE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2742" y="6464618"/>
            <a:ext cx="10986516" cy="264033"/>
            <a:chOff x="602742" y="6464618"/>
            <a:chExt cx="10986516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602742" y="6464618"/>
              <a:ext cx="1828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LINGXI-CS · 2026.08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88244" y="6464618"/>
              <a:ext cx="801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GOAI DAY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21018"/>
              <a:ext cx="2350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SCENARIO · 场景与痛点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02 / 12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2836" y="1473518"/>
            <a:ext cx="8346881" cy="1528571"/>
            <a:chOff x="592836" y="1473518"/>
            <a:chExt cx="8346881" cy="1528571"/>
          </a:xfrm>
        </p:grpSpPr>
        <p:sp>
          <p:nvSpPr>
            <p:cNvPr id="6" name="TextBox 6"/>
            <p:cNvSpPr txBox="1"/>
            <p:nvPr/>
          </p:nvSpPr>
          <p:spPr>
            <a:xfrm>
              <a:off x="640842" y="1473518"/>
              <a:ext cx="1248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CORE PAIN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2836" y="2025015"/>
              <a:ext cx="52655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客服在人海，经验在人脑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0268" y="2679382"/>
              <a:ext cx="83194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目标用户：电商 / SaaS 企业客服部门 —— 多渠道工单、高并发、知识依赖个人经验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3429000"/>
            <a:ext cx="10972800" cy="2190750"/>
            <a:chOff x="609600" y="3429000"/>
            <a:chExt cx="109728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609600" y="3429000"/>
              <a:ext cx="2590800" cy="2190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1342" y="3711892"/>
              <a:ext cx="656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PAIN 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4012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渠道分散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43557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邮件、在线客服、电话、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6415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社媒评论各自为政，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9272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人工归类耗时费力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29000" y="3429000"/>
              <a:ext cx="2590800" cy="2190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50742" y="3711892"/>
              <a:ext cx="656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PAIN 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9218" y="4012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依赖经验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49218" y="43557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意图分类靠老员工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49218" y="4641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经验判断，新人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49218" y="49272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上手周期长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48400" y="3429000"/>
              <a:ext cx="2590800" cy="2190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70142" y="3711892"/>
              <a:ext cx="656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PAIN 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8618" y="4012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链路不可追溯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8618" y="43557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退款换货执行链长，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8618" y="46415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中间状态靠口头交接，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8618" y="49272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出了问题难定位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067800" y="3429000"/>
              <a:ext cx="2514600" cy="2190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89542" y="3711892"/>
              <a:ext cx="656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PAIN 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88018" y="4012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知识流失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288018" y="43557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复盘知识无处沉淀，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88018" y="46415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员工离职即失忆，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88018" y="49272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经验难以复用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2742" y="6331268"/>
            <a:ext cx="10986516" cy="264033"/>
            <a:chOff x="602742" y="6331268"/>
            <a:chExt cx="10986516" cy="264033"/>
          </a:xfrm>
        </p:grpSpPr>
        <p:sp>
          <p:nvSpPr>
            <p:cNvPr id="35" name="TextBox 35"/>
            <p:cNvSpPr txBox="1"/>
            <p:nvPr/>
          </p:nvSpPr>
          <p:spPr>
            <a:xfrm>
              <a:off x="602742" y="6331268"/>
              <a:ext cx="3185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邮件 · 在线客服 · 电话转写 · 社媒评论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61803" y="6331268"/>
              <a:ext cx="1127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04 CHANNELS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21018"/>
              <a:ext cx="320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SCENARIO · 目标用户与业务价值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03 /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2836" y="1473518"/>
            <a:ext cx="3835870" cy="1101661"/>
            <a:chOff x="592836" y="1473518"/>
            <a:chExt cx="3835870" cy="1101661"/>
          </a:xfrm>
        </p:grpSpPr>
        <p:sp>
          <p:nvSpPr>
            <p:cNvPr id="6" name="TextBox 6"/>
            <p:cNvSpPr txBox="1"/>
            <p:nvPr/>
          </p:nvSpPr>
          <p:spPr>
            <a:xfrm>
              <a:off x="640842" y="1473518"/>
              <a:ext cx="2792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TARGET USERS &amp; VALUE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2836" y="1929765"/>
              <a:ext cx="38358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服务谁，带来什么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30377" y="2889504"/>
            <a:ext cx="5479218" cy="1636585"/>
            <a:chOff x="730377" y="2889504"/>
            <a:chExt cx="5479218" cy="1636585"/>
          </a:xfrm>
        </p:grpSpPr>
        <p:sp>
          <p:nvSpPr>
            <p:cNvPr id="9" name="Rectangle 9"/>
            <p:cNvSpPr/>
            <p:nvPr/>
          </p:nvSpPr>
          <p:spPr>
            <a:xfrm>
              <a:off x="730377" y="2889504"/>
              <a:ext cx="5334000" cy="1619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90587" y="3100387"/>
              <a:ext cx="314324" cy="314325"/>
              <a:chOff x="890587" y="3100387"/>
              <a:chExt cx="314324" cy="314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25512" y="3100387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90587" y="3309937"/>
                <a:ext cx="2095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139700" y="0"/>
                    </a:lnTo>
                    <a:cubicBezTo>
                      <a:pt x="178277" y="0"/>
                      <a:pt x="209550" y="31273"/>
                      <a:pt x="209550" y="69850"/>
                    </a:cubicBezTo>
                    <a:lnTo>
                      <a:pt x="209550" y="104775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17599" y="3102658"/>
                <a:ext cx="52524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52524" h="135334">
                    <a:moveTo>
                      <a:pt x="0" y="0"/>
                    </a:moveTo>
                    <a:cubicBezTo>
                      <a:pt x="30907" y="7913"/>
                      <a:pt x="52524" y="35763"/>
                      <a:pt x="52524" y="67667"/>
                    </a:cubicBezTo>
                    <a:cubicBezTo>
                      <a:pt x="52524" y="99571"/>
                      <a:pt x="30907" y="127421"/>
                      <a:pt x="0" y="135334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52524" y="3312556"/>
                <a:ext cx="52387" cy="102155"/>
              </a:xfrm>
              <a:custGeom>
                <a:avLst/>
                <a:gdLst/>
                <a:ahLst/>
                <a:cxnLst/>
                <a:rect l="l" t="t" r="r" b="b"/>
                <a:pathLst>
                  <a:path w="52387" h="102155">
                    <a:moveTo>
                      <a:pt x="52387" y="102155"/>
                    </a:moveTo>
                    <a:lnTo>
                      <a:pt x="52387" y="67231"/>
                    </a:lnTo>
                    <a:cubicBezTo>
                      <a:pt x="52205" y="35529"/>
                      <a:pt x="30696" y="7925"/>
                      <a:pt x="0" y="0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19606" y="3091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目标用户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818" y="3517582"/>
              <a:ext cx="4792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中小电商企业客服部 —— 多渠道订单咨询与售后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9818" y="3860482"/>
              <a:ext cx="53797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SaaS 平台客服运营团队 —— 高并发工单、7×24 诉求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818" y="4203382"/>
              <a:ext cx="50149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8118" indent="-178118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客服主管与质检员 —— 需要过程可见、结果可审计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77356" y="3044190"/>
            <a:ext cx="1472184" cy="352044"/>
            <a:chOff x="6277356" y="3044190"/>
            <a:chExt cx="1472184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6277356" y="30441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核心业务价值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86500" y="3429000"/>
            <a:ext cx="5295900" cy="1524000"/>
            <a:chOff x="6286500" y="3429000"/>
            <a:chExt cx="5295900" cy="1524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3429000"/>
              <a:ext cx="1638300" cy="1524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0746" y="3662362"/>
              <a:ext cx="74980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-70%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41961" y="40700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重复性人力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1844" y="4445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自动接单识别执行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115300" y="3429000"/>
              <a:ext cx="1638300" cy="1524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68678" y="366236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chemeClr val="accent1"/>
                  </a:solidFill>
                  <a:latin typeface="JetBrains Mono"/>
                  <a:ea typeface="Microsoft YaHei"/>
                  <a:cs typeface="JetBrains Mono"/>
                </a:rPr>
                <a:t>分钟级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81822" y="4070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工单闭环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151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全流程自动流转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944100" y="3429000"/>
              <a:ext cx="16383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994582" y="366236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JetBrains Mono"/>
                  <a:ea typeface="Microsoft YaHei"/>
                  <a:cs typeface="JetBrains Mono"/>
                </a:rPr>
                <a:t>越用越聪明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0622" y="4070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知识沉淀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11181" y="44453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复盘反哺识别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1218" y="5346382"/>
            <a:ext cx="8723986" cy="322707"/>
            <a:chOff x="601218" y="5346382"/>
            <a:chExt cx="8723986" cy="322707"/>
          </a:xfrm>
        </p:grpSpPr>
        <p:sp>
          <p:nvSpPr>
            <p:cNvPr id="35" name="TextBox 35"/>
            <p:cNvSpPr txBox="1"/>
            <p:nvPr/>
          </p:nvSpPr>
          <p:spPr>
            <a:xfrm>
              <a:off x="601218" y="5346382"/>
              <a:ext cx="87239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价值测算：按日 2000 工单、70% 可自动化估算，每月可释放约 700 人天的人工处理量。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2742" y="6331268"/>
            <a:ext cx="10986516" cy="264033"/>
            <a:chOff x="602742" y="6331268"/>
            <a:chExt cx="10986516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602742" y="6331268"/>
              <a:ext cx="21739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COST · SPEED · QUALITY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6672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03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21018"/>
              <a:ext cx="320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SCENARIO · 输入输出与可复制性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04 /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2836" y="1473518"/>
            <a:ext cx="5265534" cy="1101661"/>
            <a:chOff x="592836" y="1473518"/>
            <a:chExt cx="5265534" cy="1101661"/>
          </a:xfrm>
        </p:grpSpPr>
        <p:sp>
          <p:nvSpPr>
            <p:cNvPr id="6" name="TextBox 6"/>
            <p:cNvSpPr txBox="1"/>
            <p:nvPr/>
          </p:nvSpPr>
          <p:spPr>
            <a:xfrm>
              <a:off x="640842" y="1473518"/>
              <a:ext cx="2390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IO &amp; REPLICABILITY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2836" y="1929765"/>
              <a:ext cx="52655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输入输出与行业可复制性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2324" y="3429000"/>
            <a:ext cx="11053200" cy="1333500"/>
            <a:chOff x="532324" y="3429000"/>
            <a:chExt cx="11053200" cy="1333500"/>
          </a:xfrm>
        </p:grpSpPr>
        <p:sp>
          <p:nvSpPr>
            <p:cNvPr id="9" name="Rectangle 9"/>
            <p:cNvSpPr/>
            <p:nvPr/>
          </p:nvSpPr>
          <p:spPr>
            <a:xfrm>
              <a:off x="609600" y="3429000"/>
              <a:ext cx="26670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91640" y="36633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9410" y="40605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多渠道消息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32324" y="4435792"/>
              <a:ext cx="2821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邮件 / 在线客服 / 电话转写 / 社媒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276600" y="4095750"/>
              <a:ext cx="8191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095750" y="3429000"/>
              <a:ext cx="4000500" cy="13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18872" y="3663315"/>
              <a:ext cx="19542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Agent 闭环系统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66120" y="4060508"/>
              <a:ext cx="32597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聚合 → 识别 → 执行 → 核验 → 复盘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47365" y="4435792"/>
              <a:ext cx="2897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AgentTeams 编排 · Matrix 全透明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096250" y="4095750"/>
              <a:ext cx="81915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915400" y="3429000"/>
              <a:ext cx="2667000" cy="13335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997440" y="36633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2182" y="4060508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已处理工单 + 满意度确认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12276" y="4435792"/>
              <a:ext cx="2673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+ 沉淀知识（FAQ / 处理规则）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0456" y="5520690"/>
            <a:ext cx="10410158" cy="796099"/>
            <a:chOff x="600456" y="5520690"/>
            <a:chExt cx="10410158" cy="796099"/>
          </a:xfrm>
        </p:grpSpPr>
        <p:sp>
          <p:nvSpPr>
            <p:cNvPr id="24" name="TextBox 24"/>
            <p:cNvSpPr txBox="1"/>
            <p:nvPr/>
          </p:nvSpPr>
          <p:spPr>
            <a:xfrm>
              <a:off x="600456" y="55206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行业可复制性：一个引擎，多行业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18" y="5994082"/>
              <a:ext cx="104093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电商客服 · 运维工单 · 法律咨询 · 金融开户审核 —— 更换知识库与业务 API 即可复用同一套 Agent 编排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2742" y="6331268"/>
            <a:ext cx="10986516" cy="264033"/>
            <a:chOff x="602742" y="6331268"/>
            <a:chExt cx="10986516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602742" y="6331268"/>
              <a:ext cx="2279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INPUT → SYSTEM → OUTPUT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6672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04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21018"/>
              <a:ext cx="2606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ARCHITECTURE · 系统架构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05 /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2836" y="1473518"/>
            <a:ext cx="4788980" cy="1101661"/>
            <a:chOff x="592836" y="1473518"/>
            <a:chExt cx="4788980" cy="1101661"/>
          </a:xfrm>
        </p:grpSpPr>
        <p:sp>
          <p:nvSpPr>
            <p:cNvPr id="6" name="TextBox 6"/>
            <p:cNvSpPr txBox="1"/>
            <p:nvPr/>
          </p:nvSpPr>
          <p:spPr>
            <a:xfrm>
              <a:off x="640842" y="1473518"/>
              <a:ext cx="403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AGENTTEAMS · MANAGER-WORKER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2836" y="1929765"/>
              <a:ext cx="47889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四层架构，全链路闭环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2857500"/>
            <a:ext cx="3429000" cy="1070801"/>
            <a:chOff x="609600" y="2857500"/>
            <a:chExt cx="3429000" cy="1070801"/>
          </a:xfrm>
        </p:grpSpPr>
        <p:sp>
          <p:nvSpPr>
            <p:cNvPr id="9" name="Rectangle 9"/>
            <p:cNvSpPr/>
            <p:nvPr/>
          </p:nvSpPr>
          <p:spPr>
            <a:xfrm>
              <a:off x="609600" y="2857500"/>
              <a:ext cx="3429000" cy="10477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342" y="3045142"/>
              <a:ext cx="1607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Microsoft YaHei"/>
                  <a:cs typeface="JetBrains Mono"/>
                </a:rPr>
                <a:t>LAYER 01 · 接入层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33461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多渠道统一消息模型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3664268"/>
              <a:ext cx="2812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cs-gather 同人归一化 · 去重合并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67200" y="2857500"/>
            <a:ext cx="3693519" cy="1070801"/>
            <a:chOff x="4267200" y="2857500"/>
            <a:chExt cx="3693519" cy="1070801"/>
          </a:xfrm>
        </p:grpSpPr>
        <p:sp>
          <p:nvSpPr>
            <p:cNvPr id="14" name="Rectangle 14"/>
            <p:cNvSpPr/>
            <p:nvPr/>
          </p:nvSpPr>
          <p:spPr>
            <a:xfrm>
              <a:off x="4267200" y="2857500"/>
              <a:ext cx="36576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88942" y="3045142"/>
              <a:ext cx="1607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JetBrains Mono"/>
                  <a:ea typeface="Microsoft YaHei"/>
                  <a:cs typeface="JetBrains Mono"/>
                </a:rPr>
                <a:t>LAYER 02 · 编排层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7418" y="3346132"/>
              <a:ext cx="1813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AgentTeams 编排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8942" y="3664268"/>
              <a:ext cx="3471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任务拆解 · Matrix 上下文传递 · 状态追踪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53400" y="2857500"/>
            <a:ext cx="3429000" cy="1070801"/>
            <a:chOff x="8153400" y="2857500"/>
            <a:chExt cx="3429000" cy="1070801"/>
          </a:xfrm>
        </p:grpSpPr>
        <p:sp>
          <p:nvSpPr>
            <p:cNvPr id="19" name="Rectangle 19"/>
            <p:cNvSpPr/>
            <p:nvPr/>
          </p:nvSpPr>
          <p:spPr>
            <a:xfrm>
              <a:off x="8153400" y="2857500"/>
              <a:ext cx="3429000" cy="10477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75142" y="3045142"/>
              <a:ext cx="1607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Microsoft YaHei"/>
                  <a:cs typeface="JetBrains Mono"/>
                </a:rPr>
                <a:t>LAYER 03 · 执行层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73618" y="3346132"/>
              <a:ext cx="18117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+ MCP + RAG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5142" y="3664268"/>
              <a:ext cx="2976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能力抽象 · 业务系统接入 · 决策支撑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438400" y="4191000"/>
            <a:ext cx="7315200" cy="1013651"/>
            <a:chOff x="2438400" y="4191000"/>
            <a:chExt cx="7315200" cy="1013651"/>
          </a:xfrm>
        </p:grpSpPr>
        <p:sp>
          <p:nvSpPr>
            <p:cNvPr id="24" name="Rectangle 24"/>
            <p:cNvSpPr/>
            <p:nvPr/>
          </p:nvSpPr>
          <p:spPr>
            <a:xfrm>
              <a:off x="2438400" y="4191000"/>
              <a:ext cx="7315200" cy="95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660142" y="4407218"/>
              <a:ext cx="1607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Microsoft YaHei"/>
                  <a:cs typeface="JetBrains Mono"/>
                </a:rPr>
                <a:t>LAYER 04 · 沉淀层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58618" y="469868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知识库回写 + 反馈回路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60142" y="4940618"/>
              <a:ext cx="3738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复盘 → FAQ 沉淀 → RAG 反哺识别与方案生成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1218" y="5727382"/>
            <a:ext cx="8960792" cy="684657"/>
            <a:chOff x="601218" y="5727382"/>
            <a:chExt cx="8960792" cy="684657"/>
          </a:xfrm>
        </p:grpSpPr>
        <p:sp>
          <p:nvSpPr>
            <p:cNvPr id="29" name="TextBox 29"/>
            <p:cNvSpPr txBox="1"/>
            <p:nvPr/>
          </p:nvSpPr>
          <p:spPr>
            <a:xfrm>
              <a:off x="601218" y="5727382"/>
              <a:ext cx="89607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设计基点：AgentTeams（HiClaw）Manager-Worker 双层架构 —— 角色编排、任务拆解、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218" y="6089332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上下文传递、协同执行、状态追踪均映射至框架能力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2742" y="6331268"/>
            <a:ext cx="10986516" cy="264033"/>
            <a:chOff x="602742" y="6331268"/>
            <a:chExt cx="10986516" cy="264033"/>
          </a:xfrm>
        </p:grpSpPr>
        <p:sp>
          <p:nvSpPr>
            <p:cNvPr id="32" name="TextBox 32"/>
            <p:cNvSpPr txBox="1"/>
            <p:nvPr/>
          </p:nvSpPr>
          <p:spPr>
            <a:xfrm>
              <a:off x="602742" y="6331268"/>
              <a:ext cx="4526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INPUT · ORCHESTRATION · EXECUTION · KNOWLEDGE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6672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05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21018"/>
              <a:ext cx="25174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AGENT ROLES · 角色分工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06 /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2836" y="1473518"/>
            <a:ext cx="4729107" cy="1101661"/>
            <a:chOff x="592836" y="1473518"/>
            <a:chExt cx="4729107" cy="1101661"/>
          </a:xfrm>
        </p:grpSpPr>
        <p:sp>
          <p:nvSpPr>
            <p:cNvPr id="6" name="TextBox 6"/>
            <p:cNvSpPr txBox="1"/>
            <p:nvPr/>
          </p:nvSpPr>
          <p:spPr>
            <a:xfrm>
              <a:off x="640842" y="1473518"/>
              <a:ext cx="3146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SIX WORKERS · ONE TEAM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2836" y="1929765"/>
              <a:ext cx="47291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个智能体，各司其职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2857500"/>
            <a:ext cx="10972800" cy="3109151"/>
            <a:chOff x="609600" y="2857500"/>
            <a:chExt cx="10972800" cy="3109151"/>
          </a:xfrm>
        </p:grpSpPr>
        <p:sp>
          <p:nvSpPr>
            <p:cNvPr id="9" name="Rectangle 9"/>
            <p:cNvSpPr/>
            <p:nvPr/>
          </p:nvSpPr>
          <p:spPr>
            <a:xfrm>
              <a:off x="609600" y="2857500"/>
              <a:ext cx="35052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342" y="3092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3422332"/>
              <a:ext cx="1116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cs-gather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3762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会话聚合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4045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多渠道接入 · 同人识别 · 工单去重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43400" y="2857500"/>
              <a:ext cx="35052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65142" y="3092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63618" y="34223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cs-intent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64380" y="3762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意图识别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5142" y="4045268"/>
              <a:ext cx="3153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分类分级 · 槽位抽取 · 紧急度 P0-P2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77200" y="2857500"/>
              <a:ext cx="35052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98942" y="30927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JetBrains Mono"/>
                  <a:ea typeface="Microsoft YaHei"/>
                  <a:cs typeface="JetBrains Mono"/>
                </a:rPr>
                <a:t>03 ⭐ 团队长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7418" y="34223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cs-handler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0" y="3762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方案执行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942" y="404526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方案生成 · 业务执行 · 流程协调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4514850"/>
              <a:ext cx="35052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47501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818" y="5079682"/>
              <a:ext cx="1360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cs-approver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0580" y="5419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审批把关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5702618"/>
              <a:ext cx="2430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高风险审批 · 回滚 · 审计日志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43400" y="4514850"/>
              <a:ext cx="35052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65142" y="47501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63618" y="507968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cs-verify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4380" y="5419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结果核验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65142" y="570261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结果确认 · 满意度核验 · 升级处理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77200" y="4514850"/>
              <a:ext cx="35052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98942" y="47501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06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7418" y="5079682"/>
              <a:ext cx="11051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cs-review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98180" y="5419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案例复盘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98942" y="570261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复盘报告 · FAQ 提炼 · 知识回写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2742" y="6331268"/>
            <a:ext cx="10986516" cy="264033"/>
            <a:chOff x="602742" y="6331268"/>
            <a:chExt cx="10986516" cy="264033"/>
          </a:xfrm>
        </p:grpSpPr>
        <p:sp>
          <p:nvSpPr>
            <p:cNvPr id="40" name="TextBox 40"/>
            <p:cNvSpPr txBox="1"/>
            <p:nvPr/>
          </p:nvSpPr>
          <p:spPr>
            <a:xfrm>
              <a:off x="602742" y="6331268"/>
              <a:ext cx="29516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EACH AGENT HAS A CLEAR IDENTITY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6672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06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21018"/>
              <a:ext cx="2299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WORKFLOW · 协作流程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07 /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2836" y="1473518"/>
            <a:ext cx="5213299" cy="1101661"/>
            <a:chOff x="592836" y="1473518"/>
            <a:chExt cx="5213299" cy="1101661"/>
          </a:xfrm>
        </p:grpSpPr>
        <p:sp>
          <p:nvSpPr>
            <p:cNvPr id="6" name="TextBox 6"/>
            <p:cNvSpPr txBox="1"/>
            <p:nvPr/>
          </p:nvSpPr>
          <p:spPr>
            <a:xfrm>
              <a:off x="640842" y="1473518"/>
              <a:ext cx="51652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TASK DECOMPOSITION &amp; CONTEXT PASSING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2836" y="1929765"/>
              <a:ext cx="431242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一条工单，走完闭环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238500"/>
            <a:ext cx="10972800" cy="1147001"/>
            <a:chOff x="609600" y="3238500"/>
            <a:chExt cx="10972800" cy="1147001"/>
          </a:xfrm>
        </p:grpSpPr>
        <p:sp>
          <p:nvSpPr>
            <p:cNvPr id="9" name="Rectangle 9"/>
            <p:cNvSpPr/>
            <p:nvPr/>
          </p:nvSpPr>
          <p:spPr>
            <a:xfrm>
              <a:off x="609600" y="3238500"/>
              <a:ext cx="1905000" cy="1143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3986" y="3460432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聚合工单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05443" y="38357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cs-gather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1962" y="4121468"/>
              <a:ext cx="13002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标准工单 JSON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514600" y="381000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819400" y="3238500"/>
              <a:ext cx="1905000" cy="1143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63786" y="3460432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意图分级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37960" y="38357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cs-intent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19965" y="4121468"/>
              <a:ext cx="1703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 + 槽位 + 紧急度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724400" y="381000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029200" y="3238500"/>
              <a:ext cx="19050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73586" y="3460432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方案执行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97782" y="38357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cs-handler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8852" y="4121468"/>
              <a:ext cx="1685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± cs-approver 审批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934200" y="381000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39000" y="3238500"/>
              <a:ext cx="1905000" cy="1143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83386" y="3460432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 核验确认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57560" y="383571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cs-verify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44064" y="41214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核验 + 满意度确认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144000" y="3810000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448800" y="3238500"/>
              <a:ext cx="2133600" cy="1143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907486" y="3460432"/>
              <a:ext cx="12162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 复盘沉淀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63486" y="3835718"/>
              <a:ext cx="9042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cs-review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63531" y="4121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知识反哺闭环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5143500"/>
            <a:ext cx="11130839" cy="914400"/>
            <a:chOff x="609600" y="5143500"/>
            <a:chExt cx="11130839" cy="914400"/>
          </a:xfrm>
        </p:grpSpPr>
        <p:sp>
          <p:nvSpPr>
            <p:cNvPr id="34" name="Rectangle 34"/>
            <p:cNvSpPr/>
            <p:nvPr/>
          </p:nvSpPr>
          <p:spPr>
            <a:xfrm>
              <a:off x="609600" y="5143500"/>
              <a:ext cx="109728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69569" y="5385197"/>
              <a:ext cx="316929" cy="280940"/>
            </a:xfrm>
            <a:custGeom>
              <a:avLst/>
              <a:gdLst/>
              <a:ahLst/>
              <a:cxnLst/>
              <a:rect l="l" t="t" r="r" b="b"/>
              <a:pathLst>
                <a:path w="316929" h="280940">
                  <a:moveTo>
                    <a:pt x="16256" y="266304"/>
                  </a:moveTo>
                  <a:lnTo>
                    <a:pt x="36894" y="204391"/>
                  </a:lnTo>
                  <a:cubicBezTo>
                    <a:pt x="0" y="149829"/>
                    <a:pt x="14256" y="79423"/>
                    <a:pt x="70231" y="39703"/>
                  </a:cubicBezTo>
                  <a:cubicBezTo>
                    <a:pt x="126207" y="0"/>
                    <a:pt x="206598" y="3254"/>
                    <a:pt x="258271" y="47323"/>
                  </a:cubicBezTo>
                  <a:cubicBezTo>
                    <a:pt x="309944" y="91408"/>
                    <a:pt x="316929" y="162671"/>
                    <a:pt x="274606" y="214027"/>
                  </a:cubicBezTo>
                  <a:cubicBezTo>
                    <a:pt x="232283" y="265383"/>
                    <a:pt x="153718" y="280940"/>
                    <a:pt x="90869" y="250429"/>
                  </a:cubicBezTo>
                  <a:lnTo>
                    <a:pt x="16256" y="266304"/>
                  </a:lnTo>
                </a:path>
              </a:pathLst>
            </a:custGeom>
            <a:noFill/>
            <a:ln w="31750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401318" y="53654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上下文传递与状态追踪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02080" y="5705475"/>
              <a:ext cx="103383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Matrix 房间消息流承载工单 / 中间结论 / 工具结果；state.json + MinIO 共享状态，任何 Agent 可查询工单进展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2742" y="6331268"/>
            <a:ext cx="10986516" cy="264033"/>
            <a:chOff x="602742" y="6331268"/>
            <a:chExt cx="10986516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602742" y="6331268"/>
              <a:ext cx="2289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CONTEXT · STATE · TRACE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6672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07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21018"/>
              <a:ext cx="2954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VERIFICATION &amp; EXCEPTIONS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08 /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2836" y="1473518"/>
            <a:ext cx="5643220" cy="1101661"/>
            <a:chOff x="592836" y="1473518"/>
            <a:chExt cx="5643220" cy="1101661"/>
          </a:xfrm>
        </p:grpSpPr>
        <p:sp>
          <p:nvSpPr>
            <p:cNvPr id="6" name="TextBox 6"/>
            <p:cNvSpPr txBox="1"/>
            <p:nvPr/>
          </p:nvSpPr>
          <p:spPr>
            <a:xfrm>
              <a:off x="640842" y="1473518"/>
              <a:ext cx="5595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RESULT VERIFICATION · EXCEPTION BRANCHES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2836" y="1929765"/>
              <a:ext cx="431242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结果验证与异常兜底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0456" y="2948940"/>
            <a:ext cx="9305544" cy="1051560"/>
            <a:chOff x="600456" y="2948940"/>
            <a:chExt cx="9305544" cy="1051560"/>
          </a:xfrm>
        </p:grpSpPr>
        <p:sp>
          <p:nvSpPr>
            <p:cNvPr id="9" name="TextBox 9"/>
            <p:cNvSpPr txBox="1"/>
            <p:nvPr/>
          </p:nvSpPr>
          <p:spPr>
            <a:xfrm>
              <a:off x="600456" y="2948940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正常路径 · 每单必核验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3333750"/>
              <a:ext cx="20955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45870" y="3571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执行完成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705100" y="3667125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009900" y="3333750"/>
              <a:ext cx="2095500" cy="6667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41345" y="3571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核验结果（查系统）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105400" y="3667125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10200" y="3333750"/>
              <a:ext cx="2095500" cy="6667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45505" y="3571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满意度确认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505700" y="3667125"/>
              <a:ext cx="3048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0" y="3333750"/>
              <a:ext cx="20955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26800" y="35718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工单完结 · 审计留档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0456" y="4568190"/>
            <a:ext cx="11122052" cy="1731835"/>
            <a:chOff x="600456" y="4568190"/>
            <a:chExt cx="11122052" cy="1731835"/>
          </a:xfrm>
        </p:grpSpPr>
        <p:sp>
          <p:nvSpPr>
            <p:cNvPr id="22" name="TextBox 22"/>
            <p:cNvSpPr txBox="1"/>
            <p:nvPr/>
          </p:nvSpPr>
          <p:spPr>
            <a:xfrm>
              <a:off x="600456" y="45681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异常分支 · 兜底设计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81038" y="5010150"/>
              <a:ext cx="214312" cy="228600"/>
              <a:chOff x="681038" y="5010150"/>
              <a:chExt cx="214312" cy="228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81038" y="51816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81038" y="50101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3912" y="50101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09612" y="5067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38188" y="5110162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0" y="100012"/>
                    </a:moveTo>
                    <a:lnTo>
                      <a:pt x="85725" y="100012"/>
                    </a:lnTo>
                    <a:cubicBezTo>
                      <a:pt x="101507" y="100012"/>
                      <a:pt x="114300" y="87219"/>
                      <a:pt x="114300" y="71438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09625" y="5110162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135380" y="5029200"/>
              <a:ext cx="1590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意图置信度 &lt; 0.7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6142" y="5312092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→ 转人工复核，不擅自定级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4643438" y="5010150"/>
              <a:ext cx="214312" cy="228600"/>
              <a:chOff x="4643438" y="5010150"/>
              <a:chExt cx="214312" cy="228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643438" y="51816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643438" y="50101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786312" y="50101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672012" y="5067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700588" y="5110162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0" y="100012"/>
                    </a:moveTo>
                    <a:lnTo>
                      <a:pt x="85725" y="100012"/>
                    </a:lnTo>
                    <a:cubicBezTo>
                      <a:pt x="101507" y="100012"/>
                      <a:pt x="114300" y="87219"/>
                      <a:pt x="114300" y="71438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772025" y="5110162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097780" y="50292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执行失败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98542" y="5312092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→ 重试 1 次 → 仍失败转人工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8453438" y="5010150"/>
              <a:ext cx="214312" cy="228600"/>
              <a:chOff x="8453438" y="5010150"/>
              <a:chExt cx="214312" cy="228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453438" y="51816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453438" y="50101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596312" y="50101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482012" y="5067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510588" y="5110162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0" y="100012"/>
                    </a:moveTo>
                    <a:lnTo>
                      <a:pt x="85725" y="100012"/>
                    </a:lnTo>
                    <a:cubicBezTo>
                      <a:pt x="101507" y="100012"/>
                      <a:pt x="114300" y="87219"/>
                      <a:pt x="114300" y="71438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582025" y="5110162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907780" y="5029200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客户未回应 / 不满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08542" y="5312092"/>
              <a:ext cx="2813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→ 24h 升级转人工 + 通知 Manager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681038" y="5734050"/>
              <a:ext cx="214312" cy="228600"/>
              <a:chOff x="681038" y="5734050"/>
              <a:chExt cx="214312" cy="2286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81038" y="5905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81038" y="57340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3912" y="57340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09612" y="57912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38188" y="5834062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0" y="100012"/>
                    </a:moveTo>
                    <a:lnTo>
                      <a:pt x="85725" y="100012"/>
                    </a:lnTo>
                    <a:cubicBezTo>
                      <a:pt x="101507" y="100012"/>
                      <a:pt x="114300" y="87219"/>
                      <a:pt x="114300" y="71438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09625" y="5834062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135380" y="57531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高风险操作（大额退款）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36142" y="6035992"/>
              <a:ext cx="35575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→ cs-approver 人工审批 → 失败回滚 + 审计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2742" y="6331268"/>
            <a:ext cx="10986516" cy="264033"/>
            <a:chOff x="602742" y="6331268"/>
            <a:chExt cx="10986516" cy="264033"/>
          </a:xfrm>
        </p:grpSpPr>
        <p:sp>
          <p:nvSpPr>
            <p:cNvPr id="60" name="TextBox 60"/>
            <p:cNvSpPr txBox="1"/>
            <p:nvPr/>
          </p:nvSpPr>
          <p:spPr>
            <a:xfrm>
              <a:off x="602742" y="6331268"/>
              <a:ext cx="37677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VERIFY · FALLBACK · APPROVE · ROLLBACK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96672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08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21018"/>
              <a:ext cx="26444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SKILL LAYER · 能力抽象层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09 /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2836" y="1473518"/>
            <a:ext cx="4061280" cy="1101661"/>
            <a:chOff x="592836" y="1473518"/>
            <a:chExt cx="4061280" cy="1101661"/>
          </a:xfrm>
        </p:grpSpPr>
        <p:sp>
          <p:nvSpPr>
            <p:cNvPr id="6" name="TextBox 6"/>
            <p:cNvSpPr txBox="1"/>
            <p:nvPr/>
          </p:nvSpPr>
          <p:spPr>
            <a:xfrm>
              <a:off x="640842" y="1473518"/>
              <a:ext cx="3366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CORE SKILLS · 9 ELEMENTS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2836" y="1929765"/>
              <a:ext cx="40612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即能力抽象层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2857500"/>
            <a:ext cx="10972800" cy="2918651"/>
            <a:chOff x="609600" y="2857500"/>
            <a:chExt cx="10972800" cy="2918651"/>
          </a:xfrm>
        </p:grpSpPr>
        <p:sp>
          <p:nvSpPr>
            <p:cNvPr id="9" name="Rectangle 9"/>
            <p:cNvSpPr/>
            <p:nvPr/>
          </p:nvSpPr>
          <p:spPr>
            <a:xfrm>
              <a:off x="609600" y="2857500"/>
              <a:ext cx="35052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342" y="309276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S01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3422332"/>
              <a:ext cx="21047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ticket-aggregation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3762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工单聚合去重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988118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→ cs-gather 专属，产出标准工单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343400" y="2857500"/>
              <a:ext cx="35052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65142" y="309276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S02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63618" y="3422332"/>
              <a:ext cx="23046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intent-classification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64380" y="3762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意图识别分级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5142" y="3988118"/>
              <a:ext cx="3078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→ cs-intent 专属，JSON 结构化输出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77200" y="2857500"/>
              <a:ext cx="35052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98942" y="309276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S03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7418" y="3422332"/>
              <a:ext cx="2171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solution-generation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0" y="3762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方案生成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942" y="3988118"/>
              <a:ext cx="2999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→ cs-handler，RAG 检索 + 审批等级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4381500"/>
              <a:ext cx="35052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461676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S04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818" y="4946332"/>
              <a:ext cx="22268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operation-execution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0580" y="5286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业务操作执行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1342" y="5512118"/>
              <a:ext cx="25307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→ 幂等控制，失败重试，可回滚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343400" y="4381500"/>
              <a:ext cx="3505200" cy="1333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65142" y="461676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S05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63618" y="4946332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JetBrains Mono"/>
                  <a:ea typeface="JetBrains Mono"/>
                  <a:cs typeface="JetBrains Mono"/>
                </a:rPr>
                <a:t>result-verification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4380" y="5286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结果核验确认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65142" y="551211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→ cs-verify，查询比对 + 满意度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77200" y="4381500"/>
              <a:ext cx="3505200" cy="133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98942" y="461676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S06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7418" y="4946332"/>
              <a:ext cx="24156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knowledge-distillation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98180" y="52863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案例复盘沉淀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98942" y="5512118"/>
              <a:ext cx="2510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 复盘报告 · FAQ · 知识回写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2742" y="6331268"/>
            <a:ext cx="10986516" cy="264033"/>
            <a:chOff x="602742" y="6331268"/>
            <a:chExt cx="10986516" cy="264033"/>
          </a:xfrm>
        </p:grpSpPr>
        <p:sp>
          <p:nvSpPr>
            <p:cNvPr id="40" name="TextBox 40"/>
            <p:cNvSpPr txBox="1"/>
            <p:nvPr/>
          </p:nvSpPr>
          <p:spPr>
            <a:xfrm>
              <a:off x="602742" y="6331268"/>
              <a:ext cx="8213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9 ELEMENTS: 名称/用途/输入输出/调用条件/依赖工具/失败处理/安全边界/复用价值/协同关系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6672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09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21018"/>
              <a:ext cx="41571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TOOLING · MCP / RAG / OBSERVABILITY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10 /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2836" y="1473518"/>
            <a:ext cx="4312425" cy="1101661"/>
            <a:chOff x="592836" y="1473518"/>
            <a:chExt cx="4312425" cy="1101661"/>
          </a:xfrm>
        </p:grpSpPr>
        <p:sp>
          <p:nvSpPr>
            <p:cNvPr id="6" name="TextBox 6"/>
            <p:cNvSpPr txBox="1"/>
            <p:nvPr/>
          </p:nvSpPr>
          <p:spPr>
            <a:xfrm>
              <a:off x="640842" y="1473518"/>
              <a:ext cx="2783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INTEGRATION PLANNING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2836" y="1929765"/>
              <a:ext cx="431242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工具连接与能力规划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2857500"/>
            <a:ext cx="3505200" cy="2857500"/>
            <a:chOff x="609600" y="2857500"/>
            <a:chExt cx="3505200" cy="2857500"/>
          </a:xfrm>
        </p:grpSpPr>
        <p:sp>
          <p:nvSpPr>
            <p:cNvPr id="9" name="Rectangle 9"/>
            <p:cNvSpPr/>
            <p:nvPr/>
          </p:nvSpPr>
          <p:spPr>
            <a:xfrm>
              <a:off x="609600" y="2857500"/>
              <a:ext cx="35052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01700" y="3222625"/>
              <a:ext cx="263526" cy="127000"/>
              <a:chOff x="901700" y="3222625"/>
              <a:chExt cx="263526" cy="127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01700" y="3302000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28700" y="3222625"/>
                <a:ext cx="7937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27000">
                    <a:moveTo>
                      <a:pt x="0" y="127000"/>
                    </a:moveTo>
                    <a:lnTo>
                      <a:pt x="0" y="0"/>
                    </a:lnTo>
                    <a:lnTo>
                      <a:pt x="47625" y="0"/>
                    </a:lnTo>
                    <a:cubicBezTo>
                      <a:pt x="65160" y="0"/>
                      <a:pt x="79375" y="14215"/>
                      <a:pt x="79375" y="31750"/>
                    </a:cubicBezTo>
                    <a:lnTo>
                      <a:pt x="79375" y="47625"/>
                    </a:lnTo>
                    <a:cubicBezTo>
                      <a:pt x="79375" y="65160"/>
                      <a:pt x="65160" y="79375"/>
                      <a:pt x="47625" y="79375"/>
                    </a:cubicBezTo>
                    <a:lnTo>
                      <a:pt x="0" y="79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55701" y="322262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01700" y="3222625"/>
                <a:ext cx="7937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27000">
                    <a:moveTo>
                      <a:pt x="79375" y="127000"/>
                    </a:moveTo>
                    <a:lnTo>
                      <a:pt x="79375" y="39688"/>
                    </a:lnTo>
                    <a:cubicBezTo>
                      <a:pt x="79375" y="17769"/>
                      <a:pt x="61606" y="0"/>
                      <a:pt x="39688" y="0"/>
                    </a:cubicBezTo>
                    <a:cubicBezTo>
                      <a:pt x="17769" y="0"/>
                      <a:pt x="0" y="17769"/>
                      <a:pt x="0" y="39688"/>
                    </a:cubicBez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62456" y="3158490"/>
              <a:ext cx="2066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MCP · 工具连接层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0580" y="3648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业务系统统一接入协议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342" y="3969068"/>
              <a:ext cx="3275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73737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订单 / 退款 / 账户 API → MCP Server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1342" y="4216718"/>
              <a:ext cx="2577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73737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经 Higress 网关统一鉴权路由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342" y="4464368"/>
              <a:ext cx="3140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73737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契约含 Schema / 幂等 / 审计 / 降级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8200" y="4914900"/>
              <a:ext cx="30480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46860" y="50958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迁移仅需协议适配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43400" y="2857500"/>
            <a:ext cx="3505200" cy="2857500"/>
            <a:chOff x="4343400" y="2857500"/>
            <a:chExt cx="3505200" cy="2857500"/>
          </a:xfrm>
        </p:grpSpPr>
        <p:sp>
          <p:nvSpPr>
            <p:cNvPr id="23" name="Rectangle 23"/>
            <p:cNvSpPr/>
            <p:nvPr/>
          </p:nvSpPr>
          <p:spPr>
            <a:xfrm>
              <a:off x="4343400" y="2857500"/>
              <a:ext cx="35052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635500" y="3143250"/>
              <a:ext cx="254001" cy="285750"/>
              <a:chOff x="4635500" y="3143250"/>
              <a:chExt cx="254001" cy="2857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635500" y="3143250"/>
                <a:ext cx="254001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1" y="95250"/>
                      <a:pt x="254001" y="73928"/>
                      <a:pt x="254001" y="47625"/>
                    </a:cubicBezTo>
                    <a:cubicBezTo>
                      <a:pt x="254001" y="21322"/>
                      <a:pt x="197141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635500" y="3190875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1" y="142875"/>
                      <a:pt x="254001" y="121553"/>
                      <a:pt x="254001" y="95250"/>
                    </a:cubicBez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635500" y="3286125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1" y="142875"/>
                      <a:pt x="254001" y="121553"/>
                      <a:pt x="254001" y="95250"/>
                    </a:cubicBez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096256" y="3158490"/>
              <a:ext cx="20153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RAG · 上下文增强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64380" y="36480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知识库支撑方案决策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65142" y="3969068"/>
              <a:ext cx="2319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73737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知识库 RAG 检索历史案例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65142" y="4216718"/>
              <a:ext cx="264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73737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4 选 2 已全覆盖：知识库 RAG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5142" y="4464368"/>
              <a:ext cx="2623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+ 共享状态 + Agent 记忆 + 轨迹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572000" y="4914900"/>
              <a:ext cx="30480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0660" y="50958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上下文能力全覆盖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77200" y="2857500"/>
            <a:ext cx="3505200" cy="2857500"/>
            <a:chOff x="8077200" y="2857500"/>
            <a:chExt cx="3505200" cy="2857500"/>
          </a:xfrm>
        </p:grpSpPr>
        <p:sp>
          <p:nvSpPr>
            <p:cNvPr id="36" name="Rectangle 36"/>
            <p:cNvSpPr/>
            <p:nvPr/>
          </p:nvSpPr>
          <p:spPr>
            <a:xfrm>
              <a:off x="8077200" y="2857500"/>
              <a:ext cx="3505200" cy="2857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353425" y="3190875"/>
              <a:ext cx="285751" cy="190500"/>
              <a:chOff x="8353425" y="3190875"/>
              <a:chExt cx="285751" cy="1905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464550" y="3254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53425" y="3190875"/>
                <a:ext cx="28575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90500">
                    <a:moveTo>
                      <a:pt x="285751" y="95250"/>
                    </a:moveTo>
                    <a:cubicBezTo>
                      <a:pt x="247650" y="158750"/>
                      <a:pt x="200025" y="190500"/>
                      <a:pt x="142875" y="190500"/>
                    </a:cubicBezTo>
                    <a:cubicBezTo>
                      <a:pt x="85725" y="190500"/>
                      <a:pt x="38100" y="158750"/>
                      <a:pt x="0" y="95250"/>
                    </a:cubicBezTo>
                    <a:cubicBezTo>
                      <a:pt x="38100" y="31750"/>
                      <a:pt x="85725" y="0"/>
                      <a:pt x="142875" y="0"/>
                    </a:cubicBezTo>
                    <a:cubicBezTo>
                      <a:pt x="200025" y="0"/>
                      <a:pt x="247650" y="31750"/>
                      <a:pt x="285751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830056" y="315849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可观测 · 全链路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98180" y="3648075"/>
              <a:ext cx="21595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Trace / Log / Metrics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98942" y="3969068"/>
              <a:ext cx="2645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73737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Matrix 房间全透明（已实现）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98942" y="4216718"/>
              <a:ext cx="25220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73737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控制器结构化日志（已实现）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98942" y="4464368"/>
              <a:ext cx="22849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73737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规划 AgentLoop 推理轨迹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305800" y="4914900"/>
              <a:ext cx="30480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988933" y="5095875"/>
              <a:ext cx="16817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已覆盖 Log + 轨迹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2742" y="6331268"/>
            <a:ext cx="10986516" cy="264033"/>
            <a:chOff x="602742" y="6331268"/>
            <a:chExt cx="1098651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602742" y="6331268"/>
              <a:ext cx="2442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MCP · RAG · OBSERVABILITY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6672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10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602742" y="521018"/>
            <a:ext cx="10986516" cy="264033"/>
            <a:chOff x="602742" y="521018"/>
            <a:chExt cx="10986516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521018"/>
              <a:ext cx="20961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Microsoft YaHei"/>
                  <a:cs typeface="JetBrains Mono"/>
                </a:rPr>
                <a:t>ROADMAP · 落地计划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45565" y="521018"/>
              <a:ext cx="743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spc="1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11 /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2836" y="1473518"/>
            <a:ext cx="5265534" cy="1101661"/>
            <a:chOff x="592836" y="1473518"/>
            <a:chExt cx="5265534" cy="1101661"/>
          </a:xfrm>
        </p:grpSpPr>
        <p:sp>
          <p:nvSpPr>
            <p:cNvPr id="6" name="TextBox 6"/>
            <p:cNvSpPr txBox="1"/>
            <p:nvPr/>
          </p:nvSpPr>
          <p:spPr>
            <a:xfrm>
              <a:off x="640842" y="1473518"/>
              <a:ext cx="2237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PHASES &amp; METRICS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2836" y="1929765"/>
              <a:ext cx="52655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三阶段落地，指标可量化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2857500"/>
            <a:ext cx="3505200" cy="2095500"/>
            <a:chOff x="609600" y="2857500"/>
            <a:chExt cx="3505200" cy="2095500"/>
          </a:xfrm>
        </p:grpSpPr>
        <p:sp>
          <p:nvSpPr>
            <p:cNvPr id="9" name="Rectangle 9"/>
            <p:cNvSpPr/>
            <p:nvPr/>
          </p:nvSpPr>
          <p:spPr>
            <a:xfrm>
              <a:off x="609600" y="2857500"/>
              <a:ext cx="3505200" cy="20955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342" y="3092768"/>
              <a:ext cx="1492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PHASE 01 · DONE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056" y="34061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初赛 · 方案验证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3838575"/>
              <a:ext cx="19144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AgentTeams 部署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0580" y="4143375"/>
              <a:ext cx="26854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6 Worker 创建 + 团队组建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0580" y="4448175"/>
              <a:ext cx="209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测试工单全链路跑通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43400" y="2857500"/>
            <a:ext cx="3505200" cy="2095500"/>
            <a:chOff x="4343400" y="2857500"/>
            <a:chExt cx="3505200" cy="2095500"/>
          </a:xfrm>
        </p:grpSpPr>
        <p:sp>
          <p:nvSpPr>
            <p:cNvPr id="16" name="Rectangle 16"/>
            <p:cNvSpPr/>
            <p:nvPr/>
          </p:nvSpPr>
          <p:spPr>
            <a:xfrm>
              <a:off x="4343400" y="2857500"/>
              <a:ext cx="3505200" cy="2095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65142" y="3092768"/>
              <a:ext cx="1549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PHASE 02 · DOING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2856" y="34061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复赛 · 工程落地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4380" y="3838575"/>
              <a:ext cx="22930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Mock 业务系统 MCP 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4380" y="4143375"/>
              <a:ext cx="25454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知识库 RAG + 可观测接入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4380" y="4448175"/>
              <a:ext cx="268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评估指标跑分（8.16-9.3）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77200" y="2857500"/>
            <a:ext cx="3505200" cy="2095500"/>
            <a:chOff x="8077200" y="2857500"/>
            <a:chExt cx="3505200" cy="2095500"/>
          </a:xfrm>
        </p:grpSpPr>
        <p:sp>
          <p:nvSpPr>
            <p:cNvPr id="23" name="Rectangle 23"/>
            <p:cNvSpPr/>
            <p:nvPr/>
          </p:nvSpPr>
          <p:spPr>
            <a:xfrm>
              <a:off x="8077200" y="2857500"/>
              <a:ext cx="3505200" cy="2095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98942" y="3092768"/>
              <a:ext cx="1453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PHASE 03 · NEXT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6656" y="34061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决赛 · 量化评估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8180" y="3838575"/>
              <a:ext cx="22267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自动化率 / 闭环率量化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8180" y="4143375"/>
              <a:ext cx="18721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市场发布开放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98180" y="4448175"/>
              <a:ext cx="14897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9.22 现场答辩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0456" y="5377815"/>
            <a:ext cx="7437692" cy="754380"/>
            <a:chOff x="600456" y="5377815"/>
            <a:chExt cx="7437692" cy="754380"/>
          </a:xfrm>
        </p:grpSpPr>
        <p:sp>
          <p:nvSpPr>
            <p:cNvPr id="30" name="TextBox 30"/>
            <p:cNvSpPr txBox="1"/>
            <p:nvPr/>
          </p:nvSpPr>
          <p:spPr>
            <a:xfrm>
              <a:off x="600456" y="5377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评估指标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980" y="5838825"/>
              <a:ext cx="7436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自动化率 · 闭环完成率 · 意图识别准确率 · 转人工率 · 平均处理时长 · 客户满意度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2742" y="6331268"/>
            <a:ext cx="10986516" cy="264033"/>
            <a:chOff x="602742" y="6331268"/>
            <a:chExt cx="10986516" cy="264033"/>
          </a:xfrm>
        </p:grpSpPr>
        <p:sp>
          <p:nvSpPr>
            <p:cNvPr id="33" name="TextBox 33"/>
            <p:cNvSpPr txBox="1"/>
            <p:nvPr/>
          </p:nvSpPr>
          <p:spPr>
            <a:xfrm>
              <a:off x="602742" y="6331268"/>
              <a:ext cx="1857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DONE · DOING · NEXT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6672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11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6096000" cy="6858000"/>
            <a:chOff x="0" y="0"/>
            <a:chExt cx="6096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0342" y="711518"/>
              <a:ext cx="2241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</a:rPr>
                <a:t>MANIFESTO · 12 / 12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0436" y="2501265"/>
              <a:ext cx="33593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客服自主闭环，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0436" y="3168015"/>
              <a:ext cx="33593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spc="75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从一条工单开始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818" y="4203382"/>
              <a:ext cx="4161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基于 AgentTeams 的 6 智能体客服闭环，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8818" y="458438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已跑通端到端流程，知识沉淀持续反哺。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0342" y="6140768"/>
              <a:ext cx="3364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JetBrains Mono"/>
                  <a:ea typeface="Microsoft YaHei"/>
                  <a:cs typeface="JetBrains Mono"/>
                </a:rPr>
                <a:t>GOAI 智能客服自主闭环赛道 · 2026.08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89370" y="1473518"/>
            <a:ext cx="5199888" cy="5121783"/>
            <a:chOff x="6389370" y="1473518"/>
            <a:chExt cx="5199888" cy="5121783"/>
          </a:xfrm>
        </p:grpSpPr>
        <p:sp>
          <p:nvSpPr>
            <p:cNvPr id="10" name="TextBox 10"/>
            <p:cNvSpPr txBox="1"/>
            <p:nvPr/>
          </p:nvSpPr>
          <p:spPr>
            <a:xfrm>
              <a:off x="6393942" y="1473518"/>
              <a:ext cx="13440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0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TAKEAWAYS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9370" y="2233612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0618" y="2298382"/>
              <a:ext cx="21171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 Agent 闭环已跑通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2142" y="2673668"/>
              <a:ext cx="3460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测试工单端到端验证成功，可运行 Demo，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32142" y="29213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复赛交付完整工程代码包。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400800" y="33147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9370" y="3643312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30618" y="37080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全透明可干预可审计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32142" y="4083368"/>
              <a:ext cx="360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Matrix 房间全程可见，人工审批与回滚机制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32142" y="4331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保障高风险操作安全。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400800" y="47244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9370" y="5053012"/>
              <a:ext cx="356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JetBrains Mono"/>
                  <a:ea typeface="JetBrains Mono"/>
                  <a:cs typeface="JetBrains Mono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30618" y="51177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知识沉淀反哺闭环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32142" y="5493068"/>
              <a:ext cx="3054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复盘 → FAQ → RAG 反哺下游 Agent，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32142" y="5740718"/>
              <a:ext cx="319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37373"/>
                  </a:solidFill>
                  <a:latin typeface="+mn-lt"/>
                  <a:ea typeface="+mn-ea"/>
                  <a:cs typeface="+mn-cs"/>
                </a:rPr>
                <a:t>系统越用越聪明，Skill 可市场化复用。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400800" y="61341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095482" y="6331268"/>
              <a:ext cx="493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737373"/>
                  </a:solidFill>
                  <a:latin typeface="JetBrains Mono"/>
                  <a:ea typeface="JetBrains Mono"/>
                  <a:cs typeface="JetBrains Mono"/>
                </a:rPr>
                <a:t>→ END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lx-customer-service">
  <a:themeElements>
    <a:clrScheme name="lx-customer-service">
      <a:dk1>
        <a:srgbClr val="1A1D24"/>
      </a:dk1>
      <a:lt1>
        <a:srgbClr val="F7F8FA"/>
      </a:lt1>
      <a:dk2>
        <a:srgbClr val="1F497D"/>
      </a:dk2>
      <a:lt2>
        <a:srgbClr val="EDEFF3"/>
      </a:lt2>
      <a:accent1>
        <a:srgbClr val="002FA7"/>
      </a:accent1>
      <a:accent2>
        <a:srgbClr val="0057FF"/>
      </a:accent2>
      <a:accent3>
        <a:srgbClr val="B8C4D6"/>
      </a:accent3>
      <a:accent4>
        <a:srgbClr val="002FA7"/>
      </a:accent4>
      <a:accent5>
        <a:srgbClr val="4BACC6"/>
      </a:accent5>
      <a:accent6>
        <a:srgbClr val="F79646"/>
      </a:accent6>
      <a:hlink>
        <a:srgbClr val="0057FF"/>
      </a:hlink>
      <a:folHlink>
        <a:srgbClr val="B8C4D6"/>
      </a:folHlink>
    </a:clrScheme>
    <a:fontScheme name="lx-customer-service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x-customer-serv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1520</Words>
  <Application>Microsoft Office PowerPoint</Application>
  <PresentationFormat>宽屏</PresentationFormat>
  <Paragraphs>270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JetBrains Mono</vt:lpstr>
      <vt:lpstr>微软雅黑</vt:lpstr>
      <vt:lpstr>Arial</vt:lpstr>
      <vt:lpstr>lx-customer-service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2929100669@qq.com</cp:lastModifiedBy>
  <cp:revision>2</cp:revision>
  <dcterms:created xsi:type="dcterms:W3CDTF">2026-08-12T13:12:43Z</dcterms:created>
  <dcterms:modified xsi:type="dcterms:W3CDTF">2026-08-12T13:15:03Z</dcterms:modified>
  <cp:category/>
  <cp:contentStatus/>
  <dc:language>zh-CN</dc:language>
</cp:coreProperties>
</file>