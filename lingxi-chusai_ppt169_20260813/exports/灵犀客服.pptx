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6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ingxi-chusa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ngxi-chusa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114300"/>
            <a:chOff x="0" y="0"/>
            <a:chExt cx="12192000" cy="114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4022293" y="2298382"/>
            <a:ext cx="4147414" cy="322707"/>
            <a:chOff x="4022293" y="2298382"/>
            <a:chExt cx="4147414" cy="322707"/>
          </a:xfrm>
        </p:grpSpPr>
        <p:sp>
          <p:nvSpPr>
            <p:cNvPr id="4" name="TextBox 4"/>
            <p:cNvSpPr txBox="1"/>
            <p:nvPr/>
          </p:nvSpPr>
          <p:spPr>
            <a:xfrm>
              <a:off x="4022293" y="2298382"/>
              <a:ext cx="4147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GOAI 智能客服自主闭环赛道 · 参赛作品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92121" y="3160395"/>
            <a:ext cx="5007757" cy="1635062"/>
            <a:chOff x="3592121" y="3160395"/>
            <a:chExt cx="5007757" cy="1635062"/>
          </a:xfrm>
        </p:grpSpPr>
        <p:sp>
          <p:nvSpPr>
            <p:cNvPr id="6" name="TextBox 6"/>
            <p:cNvSpPr txBox="1"/>
            <p:nvPr/>
          </p:nvSpPr>
          <p:spPr>
            <a:xfrm>
              <a:off x="4126306" y="3160395"/>
              <a:ext cx="3939388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9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592121" y="4296728"/>
              <a:ext cx="50077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多 Agent 智能客服自主闭环系统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0" y="5105400"/>
            <a:ext cx="1524000" cy="38100"/>
            <a:chOff x="5334000" y="5105400"/>
            <a:chExt cx="1524000" cy="38100"/>
          </a:xfrm>
        </p:grpSpPr>
        <p:sp>
          <p:nvSpPr>
            <p:cNvPr id="9" name="Rectangle 9"/>
            <p:cNvSpPr/>
            <p:nvPr/>
          </p:nvSpPr>
          <p:spPr>
            <a:xfrm>
              <a:off x="5334000" y="5105400"/>
              <a:ext cx="15240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2601392" y="5610225"/>
            <a:ext cx="6989216" cy="293370"/>
            <a:chOff x="2601392" y="5610225"/>
            <a:chExt cx="6989216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2601392" y="5610225"/>
              <a:ext cx="69892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从多渠道工单聚合到知识沉淀反哺 —— 基于 AgentTeams 的 6 智能体客服闭环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1726692" cy="849630"/>
            <a:chOff x="556260" y="575310"/>
            <a:chExt cx="1726692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249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P0 · 一页纸速览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17266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作品简介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1500" y="1428750"/>
            <a:ext cx="3524250" cy="2190750"/>
            <a:chOff x="571500" y="1428750"/>
            <a:chExt cx="3524250" cy="21907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352425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17049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项目名称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21107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0580" y="2524125"/>
              <a:ext cx="2537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多 Agent 客服自主闭环系统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33875" y="1428750"/>
            <a:ext cx="3524250" cy="2190750"/>
            <a:chOff x="4333875" y="1428750"/>
            <a:chExt cx="3524250" cy="2190750"/>
          </a:xfrm>
        </p:grpSpPr>
        <p:sp>
          <p:nvSpPr>
            <p:cNvPr id="10" name="Rectangle 10"/>
            <p:cNvSpPr/>
            <p:nvPr/>
          </p:nvSpPr>
          <p:spPr>
            <a:xfrm>
              <a:off x="4333875" y="1428750"/>
              <a:ext cx="352425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592955" y="17049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问题与场景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92193" y="21650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多渠道工单分散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92193" y="25079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意图分类靠人工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92193" y="28508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退款换货链路长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096250" y="1428750"/>
            <a:ext cx="3524250" cy="2190750"/>
            <a:chOff x="8096250" y="1428750"/>
            <a:chExt cx="3524250" cy="2190750"/>
          </a:xfrm>
        </p:grpSpPr>
        <p:sp>
          <p:nvSpPr>
            <p:cNvPr id="16" name="Rectangle 16"/>
            <p:cNvSpPr/>
            <p:nvPr/>
          </p:nvSpPr>
          <p:spPr>
            <a:xfrm>
              <a:off x="8096250" y="1428750"/>
              <a:ext cx="352425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355330" y="1704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核心解决方案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54568" y="2165032"/>
              <a:ext cx="17914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6 Agent 协同闭环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54568" y="25079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聚合 → 意图 → 执行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4568" y="2850832"/>
              <a:ext cx="18603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核验 → 复盘 → 反哺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71500" y="3857625"/>
            <a:ext cx="3524250" cy="2190750"/>
            <a:chOff x="571500" y="3857625"/>
            <a:chExt cx="3524250" cy="2190750"/>
          </a:xfrm>
        </p:grpSpPr>
        <p:sp>
          <p:nvSpPr>
            <p:cNvPr id="22" name="Rectangle 22"/>
            <p:cNvSpPr/>
            <p:nvPr/>
          </p:nvSpPr>
          <p:spPr>
            <a:xfrm>
              <a:off x="571500" y="3857625"/>
              <a:ext cx="352425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0580" y="413385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创新点与差异化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818" y="455580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真闭环反馈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818" y="48987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安全可控自动化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818" y="52416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全透明可观测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33875" y="3857625"/>
            <a:ext cx="3524250" cy="2190750"/>
            <a:chOff x="4333875" y="3857625"/>
            <a:chExt cx="3524250" cy="2190750"/>
          </a:xfrm>
        </p:grpSpPr>
        <p:sp>
          <p:nvSpPr>
            <p:cNvPr id="28" name="Rectangle 28"/>
            <p:cNvSpPr/>
            <p:nvPr/>
          </p:nvSpPr>
          <p:spPr>
            <a:xfrm>
              <a:off x="4333875" y="3857625"/>
              <a:ext cx="352425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92955" y="4133850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开放 / 复用价值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2193" y="4555808"/>
              <a:ext cx="21395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6 个 Skill 可发布市场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2193" y="48987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编排模式可迁移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2193" y="5241608"/>
              <a:ext cx="20491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运维工单 / 合规审核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96250" y="3857625"/>
            <a:ext cx="3524250" cy="2190750"/>
            <a:chOff x="8096250" y="3857625"/>
            <a:chExt cx="3524250" cy="2190750"/>
          </a:xfrm>
        </p:grpSpPr>
        <p:sp>
          <p:nvSpPr>
            <p:cNvPr id="34" name="Rectangle 34"/>
            <p:cNvSpPr/>
            <p:nvPr/>
          </p:nvSpPr>
          <p:spPr>
            <a:xfrm>
              <a:off x="8096250" y="3857625"/>
              <a:ext cx="3524250" cy="2190750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55330" y="41338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当前进展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54568" y="4555808"/>
              <a:ext cx="2023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6 个 Worker 已组队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54568" y="4898708"/>
              <a:ext cx="14383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10 单压测跑通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54568" y="5241608"/>
              <a:ext cx="1382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单均约 5 分钟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40" name="Line 40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1726692" cy="868680"/>
            <a:chOff x="556260" y="575310"/>
            <a:chExt cx="1726692" cy="86868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57250"/>
              <a:ext cx="17266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内容框架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59308" y="1779270"/>
            <a:ext cx="3403263" cy="469392"/>
            <a:chOff x="559308" y="1779270"/>
            <a:chExt cx="3403263" cy="469392"/>
          </a:xfrm>
        </p:grpSpPr>
        <p:sp>
          <p:nvSpPr>
            <p:cNvPr id="5" name="TextBox 5"/>
            <p:cNvSpPr txBox="1"/>
            <p:nvPr/>
          </p:nvSpPr>
          <p:spPr>
            <a:xfrm>
              <a:off x="559308" y="17792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70432" y="18116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场景与价值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12642" y="18926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9308" y="2827020"/>
            <a:ext cx="1763268" cy="469392"/>
            <a:chOff x="559308" y="2827020"/>
            <a:chExt cx="1763268" cy="469392"/>
          </a:xfrm>
        </p:grpSpPr>
        <p:sp>
          <p:nvSpPr>
            <p:cNvPr id="9" name="TextBox 9"/>
            <p:cNvSpPr txBox="1"/>
            <p:nvPr/>
          </p:nvSpPr>
          <p:spPr>
            <a:xfrm>
              <a:off x="559308" y="2827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0432" y="28594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方案总览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9308" y="3874770"/>
            <a:ext cx="3784263" cy="469392"/>
            <a:chOff x="559308" y="3874770"/>
            <a:chExt cx="3784263" cy="469392"/>
          </a:xfrm>
        </p:grpSpPr>
        <p:sp>
          <p:nvSpPr>
            <p:cNvPr id="12" name="TextBox 12"/>
            <p:cNvSpPr txBox="1"/>
            <p:nvPr/>
          </p:nvSpPr>
          <p:spPr>
            <a:xfrm>
              <a:off x="559308" y="38747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0432" y="3907155"/>
              <a:ext cx="24086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多 Agent 协同设计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3642" y="39881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59308" y="4922520"/>
            <a:ext cx="3403263" cy="469392"/>
            <a:chOff x="559308" y="4922520"/>
            <a:chExt cx="3403263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559308" y="4922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0432" y="4954905"/>
              <a:ext cx="18225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Skill 工程体系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2642" y="503586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4308" y="1779270"/>
            <a:ext cx="4355763" cy="469392"/>
            <a:chOff x="6274308" y="1779270"/>
            <a:chExt cx="4355763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6274308" y="17792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85432" y="181165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工程落地与安全可审计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80142" y="1892618"/>
              <a:ext cx="3499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20%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74308" y="2827020"/>
            <a:ext cx="4255808" cy="469392"/>
            <a:chOff x="6274308" y="2827020"/>
            <a:chExt cx="4255808" cy="469392"/>
          </a:xfrm>
        </p:grpSpPr>
        <p:sp>
          <p:nvSpPr>
            <p:cNvPr id="24" name="TextBox 24"/>
            <p:cNvSpPr txBox="1"/>
            <p:nvPr/>
          </p:nvSpPr>
          <p:spPr>
            <a:xfrm>
              <a:off x="6274308" y="28270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5432" y="2859405"/>
              <a:ext cx="20426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开放 / 开源计划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80142" y="2940368"/>
              <a:ext cx="2499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5%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74308" y="3874770"/>
            <a:ext cx="2611374" cy="469392"/>
            <a:chOff x="6274308" y="3874770"/>
            <a:chExt cx="2611374" cy="469392"/>
          </a:xfrm>
        </p:grpSpPr>
        <p:sp>
          <p:nvSpPr>
            <p:cNvPr id="28" name="TextBox 28"/>
            <p:cNvSpPr txBox="1"/>
            <p:nvPr/>
          </p:nvSpPr>
          <p:spPr>
            <a:xfrm>
              <a:off x="6274308" y="387477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85432" y="390715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落地计划与进展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74308" y="4922520"/>
            <a:ext cx="1763268" cy="469392"/>
            <a:chOff x="6274308" y="4922520"/>
            <a:chExt cx="1763268" cy="469392"/>
          </a:xfrm>
        </p:grpSpPr>
        <p:sp>
          <p:nvSpPr>
            <p:cNvPr id="31" name="TextBox 31"/>
            <p:cNvSpPr txBox="1"/>
            <p:nvPr/>
          </p:nvSpPr>
          <p:spPr>
            <a:xfrm>
              <a:off x="6274308" y="4922520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85432" y="49549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团队介绍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34" name="Line 34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622232"/>
            <a:ext cx="683133" cy="322707"/>
            <a:chOff x="563118" y="262223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6222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第一章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166110"/>
            <a:ext cx="3006471" cy="819150"/>
            <a:chOff x="552450" y="3166110"/>
            <a:chExt cx="3006471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166110"/>
              <a:ext cx="30064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场景与价值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0500" y="2381250"/>
            <a:ext cx="3810000" cy="1714500"/>
            <a:chOff x="7810500" y="2381250"/>
            <a:chExt cx="3810000" cy="1714500"/>
          </a:xfrm>
        </p:grpSpPr>
        <p:sp>
          <p:nvSpPr>
            <p:cNvPr id="6" name="Rectangle 6"/>
            <p:cNvSpPr/>
            <p:nvPr/>
          </p:nvSpPr>
          <p:spPr>
            <a:xfrm>
              <a:off x="7810500" y="2381250"/>
              <a:ext cx="38100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46542" y="2711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对应评分维度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44256" y="306324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场景价值与行业可复制性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8160" y="3486150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11" name="Line 11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10919" y="575310"/>
            <a:ext cx="3077766" cy="721380"/>
            <a:chOff x="516841" y="575310"/>
            <a:chExt cx="3077766" cy="72138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第一章 · 场景与价值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6841" y="835025"/>
              <a:ext cx="30777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现实客服系统痛点</a:t>
              </a:r>
              <a:endParaRPr lang="zh-CN" sz="30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74373" y="1448065"/>
            <a:ext cx="5334000" cy="1000125"/>
            <a:chOff x="571500" y="1428750"/>
            <a:chExt cx="5334000" cy="1000125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5334000" cy="1000125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63295" y="1698307"/>
              <a:ext cx="253542" cy="224751"/>
            </a:xfrm>
            <a:custGeom>
              <a:avLst/>
              <a:gdLst/>
              <a:ahLst/>
              <a:cxnLst/>
              <a:rect l="l" t="t" r="r" b="b"/>
              <a:pathLst>
                <a:path w="253542" h="224751">
                  <a:moveTo>
                    <a:pt x="13005" y="213042"/>
                  </a:moveTo>
                  <a:lnTo>
                    <a:pt x="29515" y="163512"/>
                  </a:lnTo>
                  <a:cubicBezTo>
                    <a:pt x="0" y="119862"/>
                    <a:pt x="11405" y="63538"/>
                    <a:pt x="56185" y="31763"/>
                  </a:cubicBezTo>
                  <a:cubicBezTo>
                    <a:pt x="100965" y="0"/>
                    <a:pt x="165277" y="2603"/>
                    <a:pt x="206616" y="37859"/>
                  </a:cubicBezTo>
                  <a:cubicBezTo>
                    <a:pt x="247954" y="73126"/>
                    <a:pt x="253542" y="130137"/>
                    <a:pt x="219684" y="171221"/>
                  </a:cubicBezTo>
                  <a:cubicBezTo>
                    <a:pt x="185826" y="212305"/>
                    <a:pt x="122974" y="224751"/>
                    <a:pt x="72695" y="200342"/>
                  </a:cubicBezTo>
                  <a:lnTo>
                    <a:pt x="13005" y="213042"/>
                  </a:lnTo>
                </a:path>
              </a:pathLst>
            </a:custGeom>
            <a:noFill/>
            <a:ln w="2540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5118" y="16506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多渠道工单分散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26642" y="2006918"/>
              <a:ext cx="3366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邮件 / 在线客服 / 电话 / 社媒，入口割裂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2571750"/>
            <a:ext cx="5334000" cy="1000125"/>
            <a:chOff x="571500" y="2571750"/>
            <a:chExt cx="5334000" cy="1000125"/>
          </a:xfrm>
        </p:grpSpPr>
        <p:sp>
          <p:nvSpPr>
            <p:cNvPr id="10" name="Rectangle 10"/>
            <p:cNvSpPr/>
            <p:nvPr/>
          </p:nvSpPr>
          <p:spPr>
            <a:xfrm>
              <a:off x="571500" y="2571750"/>
              <a:ext cx="5334000" cy="1000125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62519" y="2834231"/>
              <a:ext cx="256151" cy="220068"/>
              <a:chOff x="862519" y="2834231"/>
              <a:chExt cx="256151" cy="22006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90600" y="2914650"/>
                <a:ext cx="9525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0800">
                    <a:moveTo>
                      <a:pt x="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62519" y="2834231"/>
                <a:ext cx="256151" cy="220068"/>
              </a:xfrm>
              <a:custGeom>
                <a:avLst/>
                <a:gdLst/>
                <a:ahLst/>
                <a:cxnLst/>
                <a:rect l="l" t="t" r="r" b="b"/>
                <a:pathLst>
                  <a:path w="256151" h="220068">
                    <a:moveTo>
                      <a:pt x="107291" y="11725"/>
                    </a:moveTo>
                    <a:lnTo>
                      <a:pt x="4345" y="183606"/>
                    </a:lnTo>
                    <a:cubicBezTo>
                      <a:pt x="26" y="191085"/>
                      <a:pt x="0" y="200293"/>
                      <a:pt x="4276" y="207796"/>
                    </a:cubicBezTo>
                    <a:cubicBezTo>
                      <a:pt x="8551" y="215299"/>
                      <a:pt x="16487" y="219971"/>
                      <a:pt x="25122" y="220068"/>
                    </a:cubicBezTo>
                    <a:lnTo>
                      <a:pt x="231039" y="220068"/>
                    </a:lnTo>
                    <a:cubicBezTo>
                      <a:pt x="239671" y="219968"/>
                      <a:pt x="247602" y="215299"/>
                      <a:pt x="251877" y="207800"/>
                    </a:cubicBezTo>
                    <a:cubicBezTo>
                      <a:pt x="256151" y="200300"/>
                      <a:pt x="256128" y="191097"/>
                      <a:pt x="251816" y="183619"/>
                    </a:cubicBezTo>
                    <a:lnTo>
                      <a:pt x="148870" y="11712"/>
                    </a:lnTo>
                    <a:cubicBezTo>
                      <a:pt x="144465" y="4441"/>
                      <a:pt x="136582" y="0"/>
                      <a:pt x="128081" y="0"/>
                    </a:cubicBezTo>
                    <a:cubicBezTo>
                      <a:pt x="119579" y="0"/>
                      <a:pt x="111696" y="4441"/>
                      <a:pt x="107291" y="11712"/>
                    </a:cubicBez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0600" y="300354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27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25118" y="27936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意图分类靠人工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6642" y="31499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分类依赖经验，新人上手慢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714750"/>
            <a:ext cx="5334000" cy="1000125"/>
            <a:chOff x="571500" y="3714750"/>
            <a:chExt cx="5334000" cy="1000125"/>
          </a:xfrm>
        </p:grpSpPr>
        <p:sp>
          <p:nvSpPr>
            <p:cNvPr id="18" name="Rectangle 18"/>
            <p:cNvSpPr/>
            <p:nvPr/>
          </p:nvSpPr>
          <p:spPr>
            <a:xfrm>
              <a:off x="571500" y="3714750"/>
              <a:ext cx="5334000" cy="1000125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01700" y="3994150"/>
              <a:ext cx="190500" cy="203199"/>
              <a:chOff x="901700" y="3994150"/>
              <a:chExt cx="190500" cy="20319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01700" y="414654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01700" y="39941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28700" y="39941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27100" y="4044950"/>
                <a:ext cx="9525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1600">
                    <a:moveTo>
                      <a:pt x="0" y="0"/>
                    </a:moveTo>
                    <a:lnTo>
                      <a:pt x="0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52500" y="4083050"/>
                <a:ext cx="1016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88900">
                    <a:moveTo>
                      <a:pt x="0" y="88900"/>
                    </a:moveTo>
                    <a:lnTo>
                      <a:pt x="76200" y="88900"/>
                    </a:lnTo>
                    <a:cubicBezTo>
                      <a:pt x="90228" y="88900"/>
                      <a:pt x="101600" y="77528"/>
                      <a:pt x="101600" y="6350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16000" y="40830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38100" y="0"/>
                    </a:lnTo>
                    <a:lnTo>
                      <a:pt x="76200" y="381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325118" y="39366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退款换货链路长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26642" y="42929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执行环节多，状态不可追溯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857750"/>
            <a:ext cx="5334000" cy="1000125"/>
            <a:chOff x="571500" y="4857750"/>
            <a:chExt cx="5334000" cy="1000125"/>
          </a:xfrm>
        </p:grpSpPr>
        <p:sp>
          <p:nvSpPr>
            <p:cNvPr id="29" name="Rectangle 29"/>
            <p:cNvSpPr/>
            <p:nvPr/>
          </p:nvSpPr>
          <p:spPr>
            <a:xfrm>
              <a:off x="571500" y="4857750"/>
              <a:ext cx="5334000" cy="1000125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89000" y="5124450"/>
              <a:ext cx="203199" cy="228600"/>
              <a:chOff x="889000" y="5124450"/>
              <a:chExt cx="203199" cy="2286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89000" y="5124450"/>
                <a:ext cx="203199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199" y="59142"/>
                      <a:pt x="203199" y="38100"/>
                    </a:cubicBezTo>
                    <a:cubicBezTo>
                      <a:pt x="203199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25400">
                <a:solidFill>
                  <a:srgbClr val="8C7A6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89000" y="51625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8C7A6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89000" y="5238750"/>
                <a:ext cx="203199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199" y="97242"/>
                      <a:pt x="203199" y="76200"/>
                    </a:cubicBezTo>
                    <a:lnTo>
                      <a:pt x="203199" y="0"/>
                    </a:lnTo>
                  </a:path>
                </a:pathLst>
              </a:custGeom>
              <a:noFill/>
              <a:ln w="25400">
                <a:solidFill>
                  <a:srgbClr val="8C7A6B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325118" y="5079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知识沉淀断层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6642" y="54359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复盘知识无处沉淀，离职即失忆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301259" y="1448065"/>
            <a:ext cx="5334000" cy="4429125"/>
            <a:chOff x="6286500" y="1428750"/>
            <a:chExt cx="5334000" cy="4429125"/>
          </a:xfrm>
        </p:grpSpPr>
        <p:sp>
          <p:nvSpPr>
            <p:cNvPr id="37" name="Rectangle 37"/>
            <p:cNvSpPr/>
            <p:nvPr/>
          </p:nvSpPr>
          <p:spPr>
            <a:xfrm>
              <a:off x="6286500" y="1428750"/>
              <a:ext cx="5334000" cy="4429125"/>
            </a:xfrm>
            <a:prstGeom prst="roundRect">
              <a:avLst>
                <a:gd name="adj" fmla="val 34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59118" y="1822132"/>
              <a:ext cx="1436291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价值收益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49212" y="2754630"/>
              <a:ext cx="6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02880" y="298132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880" y="330862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可自动化比例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59945" y="3622791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70%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59880" y="471487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49212" y="4907280"/>
              <a:ext cx="65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3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26680" y="5133975"/>
              <a:ext cx="6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50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48" name="Line 48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</p:grpSp>
      <p:sp>
        <p:nvSpPr>
          <p:cNvPr id="54" name="TextBox 3">
            <a:extLst>
              <a:ext uri="{FF2B5EF4-FFF2-40B4-BE49-F238E27FC236}">
                <a16:creationId xmlns:a16="http://schemas.microsoft.com/office/drawing/2014/main" id="{2F5D6C89-50AC-85B6-7B85-BCF6B42CD997}"/>
              </a:ext>
            </a:extLst>
          </p:cNvPr>
          <p:cNvSpPr txBox="1"/>
          <p:nvPr/>
        </p:nvSpPr>
        <p:spPr>
          <a:xfrm>
            <a:off x="6397347" y="816155"/>
            <a:ext cx="3077766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rPr>
              <a:t>灵犀客服系统优化</a:t>
            </a:r>
            <a:endParaRPr lang="zh-CN" sz="3000" b="1" dirty="0">
              <a:solidFill>
                <a:schemeClr val="dk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A74F7E1-3760-5C6F-6F90-A05DF203DBBC}"/>
              </a:ext>
            </a:extLst>
          </p:cNvPr>
          <p:cNvSpPr txBox="1"/>
          <p:nvPr/>
        </p:nvSpPr>
        <p:spPr>
          <a:xfrm>
            <a:off x="6539547" y="2421244"/>
            <a:ext cx="230063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  <a:latin typeface="+mj-ea"/>
                <a:ea typeface="+mj-ea"/>
              </a:rPr>
              <a:t>单条退款工单处理时间短</a:t>
            </a:r>
          </a:p>
        </p:txBody>
      </p:sp>
      <p:sp>
        <p:nvSpPr>
          <p:cNvPr id="56" name="TextBox 43">
            <a:extLst>
              <a:ext uri="{FF2B5EF4-FFF2-40B4-BE49-F238E27FC236}">
                <a16:creationId xmlns:a16="http://schemas.microsoft.com/office/drawing/2014/main" id="{7D7BC92B-53D1-2F78-02AF-034E24D9CD99}"/>
              </a:ext>
            </a:extLst>
          </p:cNvPr>
          <p:cNvSpPr txBox="1"/>
          <p:nvPr/>
        </p:nvSpPr>
        <p:spPr>
          <a:xfrm>
            <a:off x="6659328" y="2768971"/>
            <a:ext cx="1175002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600" b="1" dirty="0">
                <a:solidFill>
                  <a:schemeClr val="accent2"/>
                </a:solidFill>
                <a:latin typeface="Microsoft YaHei"/>
                <a:ea typeface="Microsoft YaHei"/>
                <a:cs typeface="Microsoft YaHei"/>
              </a:rPr>
              <a:t>5min</a:t>
            </a:r>
            <a:endParaRPr lang="zh-CN" sz="3600" b="1" dirty="0">
              <a:solidFill>
                <a:schemeClr val="accent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42246C4-2E7C-584F-1D3E-3FB03CD872DF}"/>
              </a:ext>
            </a:extLst>
          </p:cNvPr>
          <p:cNvSpPr txBox="1"/>
          <p:nvPr/>
        </p:nvSpPr>
        <p:spPr>
          <a:xfrm>
            <a:off x="6591189" y="4294000"/>
            <a:ext cx="15311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  <a:latin typeface="+mj-ea"/>
                <a:ea typeface="+mj-ea"/>
              </a:rPr>
              <a:t>一站式循环链路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2C97C47-5191-F6F6-0B04-B2F78A73AFC8}"/>
              </a:ext>
            </a:extLst>
          </p:cNvPr>
          <p:cNvSpPr txBox="1"/>
          <p:nvPr/>
        </p:nvSpPr>
        <p:spPr>
          <a:xfrm>
            <a:off x="6591124" y="4847330"/>
            <a:ext cx="172354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00" dirty="0">
                <a:solidFill>
                  <a:schemeClr val="bg1"/>
                </a:solidFill>
                <a:latin typeface="+mj-ea"/>
                <a:ea typeface="+mj-ea"/>
              </a:rPr>
              <a:t>复盘审查知识沉淀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907982"/>
            <a:ext cx="683133" cy="322707"/>
            <a:chOff x="563118" y="290798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9079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第二章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451860"/>
            <a:ext cx="2412797" cy="819150"/>
            <a:chOff x="552450" y="3451860"/>
            <a:chExt cx="2412797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451860"/>
              <a:ext cx="24127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方案总览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3880" y="4314825"/>
            <a:ext cx="2640330" cy="293370"/>
            <a:chOff x="563880" y="4314825"/>
            <a:chExt cx="264033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4314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端到端主流程与关键技术选型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8" name="Line 8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3846957" cy="849630"/>
            <a:chOff x="556260" y="575310"/>
            <a:chExt cx="3846957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第二章 · 方案总览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四层架构，一条闭环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809750"/>
            <a:ext cx="2476500" cy="2857500"/>
            <a:chOff x="571500" y="1809750"/>
            <a:chExt cx="2476500" cy="2857500"/>
          </a:xfrm>
        </p:grpSpPr>
        <p:sp>
          <p:nvSpPr>
            <p:cNvPr id="5" name="Rectangle 5"/>
            <p:cNvSpPr/>
            <p:nvPr/>
          </p:nvSpPr>
          <p:spPr>
            <a:xfrm>
              <a:off x="571500" y="1809750"/>
              <a:ext cx="2476500" cy="2857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85482" y="2141577"/>
              <a:ext cx="285236" cy="252846"/>
            </a:xfrm>
            <a:custGeom>
              <a:avLst/>
              <a:gdLst/>
              <a:ahLst/>
              <a:cxnLst/>
              <a:rect l="l" t="t" r="r" b="b"/>
              <a:pathLst>
                <a:path w="285236" h="252846">
                  <a:moveTo>
                    <a:pt x="14630" y="239673"/>
                  </a:moveTo>
                  <a:lnTo>
                    <a:pt x="33204" y="183952"/>
                  </a:lnTo>
                  <a:cubicBezTo>
                    <a:pt x="0" y="134845"/>
                    <a:pt x="12830" y="71480"/>
                    <a:pt x="63208" y="35733"/>
                  </a:cubicBezTo>
                  <a:cubicBezTo>
                    <a:pt x="113586" y="0"/>
                    <a:pt x="185938" y="2929"/>
                    <a:pt x="232443" y="42591"/>
                  </a:cubicBezTo>
                  <a:cubicBezTo>
                    <a:pt x="278949" y="82267"/>
                    <a:pt x="285236" y="146404"/>
                    <a:pt x="247145" y="192624"/>
                  </a:cubicBezTo>
                  <a:cubicBezTo>
                    <a:pt x="209055" y="238844"/>
                    <a:pt x="138346" y="252846"/>
                    <a:pt x="81782" y="225385"/>
                  </a:cubicBezTo>
                  <a:lnTo>
                    <a:pt x="14630" y="239673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106" y="2586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接入层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0392" y="301656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cs-gather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392" y="3302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多渠道消息聚合去重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227832" y="3107055"/>
            <a:ext cx="176822" cy="410718"/>
            <a:chOff x="3227832" y="3107055"/>
            <a:chExt cx="176822" cy="410718"/>
          </a:xfrm>
        </p:grpSpPr>
        <p:sp>
          <p:nvSpPr>
            <p:cNvPr id="11" name="TextBox 11"/>
            <p:cNvSpPr txBox="1"/>
            <p:nvPr/>
          </p:nvSpPr>
          <p:spPr>
            <a:xfrm>
              <a:off x="3227832" y="31070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19500" y="1809750"/>
            <a:ext cx="2476500" cy="2857500"/>
            <a:chOff x="3619500" y="1809750"/>
            <a:chExt cx="2476500" cy="2857500"/>
          </a:xfrm>
        </p:grpSpPr>
        <p:sp>
          <p:nvSpPr>
            <p:cNvPr id="13" name="Rectangle 13"/>
            <p:cNvSpPr/>
            <p:nvPr/>
          </p:nvSpPr>
          <p:spPr>
            <a:xfrm>
              <a:off x="3619500" y="1809750"/>
              <a:ext cx="2476500" cy="2857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3976688" y="2152650"/>
              <a:ext cx="214312" cy="228600"/>
              <a:chOff x="3976688" y="2152650"/>
              <a:chExt cx="214312" cy="2286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3976688" y="23241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976688" y="2152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119562" y="2152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005262" y="22098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033838" y="22526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105275" y="22526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896106" y="2586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编排层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98392" y="3016568"/>
              <a:ext cx="1498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Manager-Worker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98392" y="3302318"/>
              <a:ext cx="13987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Matrix 房间协同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75832" y="3107055"/>
            <a:ext cx="176822" cy="410718"/>
            <a:chOff x="6275832" y="3107055"/>
            <a:chExt cx="176822" cy="410718"/>
          </a:xfrm>
        </p:grpSpPr>
        <p:sp>
          <p:nvSpPr>
            <p:cNvPr id="25" name="TextBox 25"/>
            <p:cNvSpPr txBox="1"/>
            <p:nvPr/>
          </p:nvSpPr>
          <p:spPr>
            <a:xfrm>
              <a:off x="6275832" y="31070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0" y="1809750"/>
            <a:ext cx="2476500" cy="2857500"/>
            <a:chOff x="6667500" y="1809750"/>
            <a:chExt cx="2476500" cy="2857500"/>
          </a:xfrm>
        </p:grpSpPr>
        <p:sp>
          <p:nvSpPr>
            <p:cNvPr id="27" name="Rectangle 27"/>
            <p:cNvSpPr/>
            <p:nvPr/>
          </p:nvSpPr>
          <p:spPr>
            <a:xfrm>
              <a:off x="6667500" y="1809750"/>
              <a:ext cx="2476500" cy="2857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987600" y="2129850"/>
              <a:ext cx="270380" cy="270380"/>
            </a:xfrm>
            <a:custGeom>
              <a:avLst/>
              <a:gdLst/>
              <a:ahLst/>
              <a:cxnLst/>
              <a:rect l="l" t="t" r="r" b="b"/>
              <a:pathLst>
                <a:path w="270380" h="270380">
                  <a:moveTo>
                    <a:pt x="65663" y="108525"/>
                  </a:moveTo>
                  <a:lnTo>
                    <a:pt x="108525" y="108525"/>
                  </a:lnTo>
                  <a:lnTo>
                    <a:pt x="108525" y="65663"/>
                  </a:lnTo>
                  <a:lnTo>
                    <a:pt x="58519" y="15656"/>
                  </a:lnTo>
                  <a:cubicBezTo>
                    <a:pt x="91301" y="0"/>
                    <a:pt x="130392" y="6707"/>
                    <a:pt x="156080" y="32395"/>
                  </a:cubicBezTo>
                  <a:cubicBezTo>
                    <a:pt x="181768" y="58084"/>
                    <a:pt x="188475" y="97174"/>
                    <a:pt x="172819" y="129956"/>
                  </a:cubicBezTo>
                  <a:lnTo>
                    <a:pt x="258544" y="215681"/>
                  </a:lnTo>
                  <a:cubicBezTo>
                    <a:pt x="270380" y="227518"/>
                    <a:pt x="270380" y="246708"/>
                    <a:pt x="258544" y="258544"/>
                  </a:cubicBezTo>
                  <a:cubicBezTo>
                    <a:pt x="246708" y="270380"/>
                    <a:pt x="227518" y="270380"/>
                    <a:pt x="215681" y="258544"/>
                  </a:cubicBezTo>
                  <a:lnTo>
                    <a:pt x="129956" y="172819"/>
                  </a:lnTo>
                  <a:cubicBezTo>
                    <a:pt x="97174" y="188475"/>
                    <a:pt x="58084" y="181768"/>
                    <a:pt x="32395" y="156080"/>
                  </a:cubicBezTo>
                  <a:cubicBezTo>
                    <a:pt x="6707" y="130392"/>
                    <a:pt x="0" y="91301"/>
                    <a:pt x="15656" y="58519"/>
                  </a:cubicBezTo>
                  <a:lnTo>
                    <a:pt x="65663" y="108525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44106" y="2586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执行层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6392" y="3016568"/>
              <a:ext cx="14823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Skill + MCP + RAG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46392" y="3302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方案生成与业务执行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323832" y="3107055"/>
            <a:ext cx="176822" cy="410718"/>
            <a:chOff x="9323832" y="3107055"/>
            <a:chExt cx="176822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9323832" y="310705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715500" y="1809750"/>
            <a:ext cx="1905000" cy="2857500"/>
            <a:chOff x="9715500" y="1809750"/>
            <a:chExt cx="1905000" cy="2857500"/>
          </a:xfrm>
        </p:grpSpPr>
        <p:sp>
          <p:nvSpPr>
            <p:cNvPr id="35" name="Rectangle 35"/>
            <p:cNvSpPr/>
            <p:nvPr/>
          </p:nvSpPr>
          <p:spPr>
            <a:xfrm>
              <a:off x="9715500" y="1809750"/>
              <a:ext cx="1905000" cy="28575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058400" y="2181225"/>
              <a:ext cx="228600" cy="171450"/>
              <a:chOff x="10058400" y="2181225"/>
              <a:chExt cx="228600" cy="1714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0058400" y="218122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114300" y="114300"/>
                    </a:lnTo>
                    <a:lnTo>
                      <a:pt x="228600" y="57150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058400" y="2295525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0" y="0"/>
                    </a:moveTo>
                    <a:lnTo>
                      <a:pt x="114300" y="57150"/>
                    </a:lnTo>
                    <a:lnTo>
                      <a:pt x="22860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9992106" y="2586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沉淀层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94392" y="3016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知识库回写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94392" y="3302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反馈回路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143500"/>
            <a:ext cx="11049000" cy="857250"/>
            <a:chOff x="571500" y="5143500"/>
            <a:chExt cx="11049000" cy="857250"/>
          </a:xfrm>
        </p:grpSpPr>
        <p:sp>
          <p:nvSpPr>
            <p:cNvPr id="43" name="Rectangle 43"/>
            <p:cNvSpPr/>
            <p:nvPr/>
          </p:nvSpPr>
          <p:spPr>
            <a:xfrm>
              <a:off x="571500" y="5143500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01700" y="5450363"/>
              <a:ext cx="177801" cy="186375"/>
              <a:chOff x="901700" y="5450363"/>
              <a:chExt cx="177801" cy="1863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01700" y="54503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01700" y="555466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268730" y="5457825"/>
              <a:ext cx="8385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端到端闭环：多渠道输入 → 意图分级 → 方案执行（含审批）→ 核验确认 → 复盘沉淀 → 知识反哺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49" name="Line 49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622232"/>
            <a:ext cx="683133" cy="322707"/>
            <a:chOff x="563118" y="262223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6222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第三章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166110"/>
            <a:ext cx="5051399" cy="819150"/>
            <a:chOff x="552450" y="3166110"/>
            <a:chExt cx="5051399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166110"/>
              <a:ext cx="505139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多 Agent 协同设计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0500" y="2381250"/>
            <a:ext cx="3810000" cy="1714500"/>
            <a:chOff x="7810500" y="2381250"/>
            <a:chExt cx="3810000" cy="1714500"/>
          </a:xfrm>
        </p:grpSpPr>
        <p:sp>
          <p:nvSpPr>
            <p:cNvPr id="6" name="Rectangle 6"/>
            <p:cNvSpPr/>
            <p:nvPr/>
          </p:nvSpPr>
          <p:spPr>
            <a:xfrm>
              <a:off x="7810500" y="2381250"/>
              <a:ext cx="38100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46542" y="2711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对应评分维度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44256" y="3063240"/>
              <a:ext cx="34534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多 Agent 协同与自主闭环能力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8160" y="3486150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11" name="Line 11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5133838" cy="849630"/>
            <a:chOff x="556260" y="575310"/>
            <a:chExt cx="5133838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2054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第三章 · 多 Agent 协同设计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51338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6 Agent 接力，全程可审计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524000"/>
            <a:ext cx="2476500" cy="1143000"/>
            <a:chOff x="571500" y="1524000"/>
            <a:chExt cx="2476500" cy="114300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33438" y="1778000"/>
              <a:ext cx="200026" cy="188913"/>
              <a:chOff x="833438" y="1778000"/>
              <a:chExt cx="200026" cy="18891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9000" y="1833563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889000" y="18780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33438" y="1778000"/>
                <a:ext cx="200026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88913">
                    <a:moveTo>
                      <a:pt x="166688" y="0"/>
                    </a:move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122238"/>
                    </a:lnTo>
                    <a:cubicBezTo>
                      <a:pt x="200026" y="140650"/>
                      <a:pt x="185100" y="155575"/>
                      <a:pt x="166688" y="155575"/>
                    </a:cubicBezTo>
                    <a:lnTo>
                      <a:pt x="111125" y="155575"/>
                    </a:lnTo>
                    <a:lnTo>
                      <a:pt x="55563" y="188913"/>
                    </a:lnTo>
                    <a:lnTo>
                      <a:pt x="55563" y="155575"/>
                    </a:lnTo>
                    <a:lnTo>
                      <a:pt x="33338" y="155575"/>
                    </a:lnTo>
                    <a:cubicBezTo>
                      <a:pt x="14926" y="155575"/>
                      <a:pt x="0" y="140650"/>
                      <a:pt x="0" y="122238"/>
                    </a:cubicBez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792480" y="2066925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cs-gather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004" y="2366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会话聚合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333750" y="1524000"/>
            <a:ext cx="2476500" cy="1143000"/>
            <a:chOff x="3333750" y="1524000"/>
            <a:chExt cx="2476500" cy="1143000"/>
          </a:xfrm>
        </p:grpSpPr>
        <p:sp>
          <p:nvSpPr>
            <p:cNvPr id="13" name="Rectangle 13"/>
            <p:cNvSpPr/>
            <p:nvPr/>
          </p:nvSpPr>
          <p:spPr>
            <a:xfrm>
              <a:off x="3333750" y="15240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595688" y="1778000"/>
              <a:ext cx="188913" cy="177801"/>
            </a:xfrm>
            <a:custGeom>
              <a:avLst/>
              <a:gdLst/>
              <a:ahLst/>
              <a:cxnLst/>
              <a:rect l="l" t="t" r="r" b="b"/>
              <a:pathLst>
                <a:path w="188913" h="177801">
                  <a:moveTo>
                    <a:pt x="144463" y="155575"/>
                  </a:moveTo>
                  <a:cubicBezTo>
                    <a:pt x="156737" y="155575"/>
                    <a:pt x="166688" y="165526"/>
                    <a:pt x="166688" y="177801"/>
                  </a:cubicBezTo>
                  <a:cubicBezTo>
                    <a:pt x="166688" y="165526"/>
                    <a:pt x="176638" y="155575"/>
                    <a:pt x="188913" y="155575"/>
                  </a:cubicBezTo>
                  <a:cubicBezTo>
                    <a:pt x="176638" y="155575"/>
                    <a:pt x="166688" y="145625"/>
                    <a:pt x="166688" y="133350"/>
                  </a:cubicBezTo>
                  <a:cubicBezTo>
                    <a:pt x="166688" y="145625"/>
                    <a:pt x="156737" y="155575"/>
                    <a:pt x="144463" y="155575"/>
                  </a:cubicBezTo>
                  <a:moveTo>
                    <a:pt x="144463" y="22225"/>
                  </a:moveTo>
                  <a:cubicBezTo>
                    <a:pt x="156737" y="22225"/>
                    <a:pt x="166688" y="32176"/>
                    <a:pt x="166688" y="44450"/>
                  </a:cubicBezTo>
                  <a:cubicBezTo>
                    <a:pt x="166688" y="32176"/>
                    <a:pt x="176638" y="22225"/>
                    <a:pt x="188913" y="22225"/>
                  </a:cubicBezTo>
                  <a:cubicBezTo>
                    <a:pt x="176638" y="22225"/>
                    <a:pt x="166688" y="12275"/>
                    <a:pt x="166688" y="0"/>
                  </a:cubicBezTo>
                  <a:cubicBezTo>
                    <a:pt x="166688" y="12275"/>
                    <a:pt x="156737" y="22225"/>
                    <a:pt x="144463" y="22225"/>
                  </a:cubicBezTo>
                  <a:moveTo>
                    <a:pt x="66675" y="155575"/>
                  </a:moveTo>
                  <a:cubicBezTo>
                    <a:pt x="66675" y="118752"/>
                    <a:pt x="96527" y="88900"/>
                    <a:pt x="133350" y="88900"/>
                  </a:cubicBezTo>
                  <a:cubicBezTo>
                    <a:pt x="96527" y="88900"/>
                    <a:pt x="66675" y="59049"/>
                    <a:pt x="66675" y="22225"/>
                  </a:cubicBezTo>
                  <a:cubicBezTo>
                    <a:pt x="66675" y="59049"/>
                    <a:pt x="36824" y="88900"/>
                    <a:pt x="0" y="88900"/>
                  </a:cubicBezTo>
                  <a:cubicBezTo>
                    <a:pt x="36824" y="88900"/>
                    <a:pt x="66675" y="118752"/>
                    <a:pt x="66675" y="155575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54730" y="20669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cs-intent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56254" y="2366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意图分级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0" y="1524000"/>
            <a:ext cx="2476500" cy="1143000"/>
            <a:chOff x="6096000" y="1524000"/>
            <a:chExt cx="2476500" cy="1143000"/>
          </a:xfrm>
        </p:grpSpPr>
        <p:sp>
          <p:nvSpPr>
            <p:cNvPr id="18" name="Rectangle 18"/>
            <p:cNvSpPr/>
            <p:nvPr/>
          </p:nvSpPr>
          <p:spPr>
            <a:xfrm>
              <a:off x="6096000" y="15240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351317" y="1760267"/>
              <a:ext cx="210296" cy="210296"/>
            </a:xfrm>
            <a:custGeom>
              <a:avLst/>
              <a:gdLst/>
              <a:ahLst/>
              <a:cxnLst/>
              <a:rect l="l" t="t" r="r" b="b"/>
              <a:pathLst>
                <a:path w="210296" h="210296">
                  <a:moveTo>
                    <a:pt x="51071" y="84409"/>
                  </a:moveTo>
                  <a:lnTo>
                    <a:pt x="84409" y="84409"/>
                  </a:lnTo>
                  <a:lnTo>
                    <a:pt x="84409" y="51071"/>
                  </a:lnTo>
                  <a:lnTo>
                    <a:pt x="45515" y="12177"/>
                  </a:lnTo>
                  <a:cubicBezTo>
                    <a:pt x="71012" y="0"/>
                    <a:pt x="101416" y="5217"/>
                    <a:pt x="121396" y="25196"/>
                  </a:cubicBezTo>
                  <a:cubicBezTo>
                    <a:pt x="141376" y="45176"/>
                    <a:pt x="146592" y="75580"/>
                    <a:pt x="134415" y="101078"/>
                  </a:cubicBezTo>
                  <a:lnTo>
                    <a:pt x="201090" y="167753"/>
                  </a:lnTo>
                  <a:cubicBezTo>
                    <a:pt x="210296" y="176959"/>
                    <a:pt x="210296" y="191884"/>
                    <a:pt x="201090" y="201090"/>
                  </a:cubicBezTo>
                  <a:cubicBezTo>
                    <a:pt x="191884" y="210296"/>
                    <a:pt x="176959" y="210296"/>
                    <a:pt x="167753" y="201090"/>
                  </a:cubicBezTo>
                  <a:lnTo>
                    <a:pt x="101078" y="134415"/>
                  </a:lnTo>
                  <a:cubicBezTo>
                    <a:pt x="75580" y="146592"/>
                    <a:pt x="45176" y="141376"/>
                    <a:pt x="25196" y="121396"/>
                  </a:cubicBezTo>
                  <a:cubicBezTo>
                    <a:pt x="5217" y="101416"/>
                    <a:pt x="0" y="71012"/>
                    <a:pt x="12177" y="45515"/>
                  </a:cubicBezTo>
                  <a:lnTo>
                    <a:pt x="51071" y="84409"/>
                  </a:lnTo>
                </a:path>
              </a:pathLst>
            </a:custGeom>
            <a:noFill/>
            <a:ln w="22225">
              <a:solidFill>
                <a:srgbClr val="FFFF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16980" y="2066925"/>
              <a:ext cx="1128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cs-handler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18504" y="23660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方案执行 · 团队长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858250" y="1524000"/>
            <a:ext cx="2476500" cy="1143000"/>
            <a:chOff x="8858250" y="1524000"/>
            <a:chExt cx="2476500" cy="1143000"/>
          </a:xfrm>
        </p:grpSpPr>
        <p:sp>
          <p:nvSpPr>
            <p:cNvPr id="23" name="Rectangle 23"/>
            <p:cNvSpPr/>
            <p:nvPr/>
          </p:nvSpPr>
          <p:spPr>
            <a:xfrm>
              <a:off x="8858250" y="15240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9105191" y="1766888"/>
              <a:ext cx="217008" cy="200025"/>
              <a:chOff x="9105191" y="1766888"/>
              <a:chExt cx="217008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105191" y="1766888"/>
                <a:ext cx="217008" cy="198314"/>
              </a:xfrm>
              <a:custGeom>
                <a:avLst/>
                <a:gdLst/>
                <a:ahLst/>
                <a:cxnLst/>
                <a:rect l="l" t="t" r="r" b="b"/>
                <a:pathLst>
                  <a:path w="217008" h="198314">
                    <a:moveTo>
                      <a:pt x="109009" y="198314"/>
                    </a:moveTo>
                    <a:cubicBezTo>
                      <a:pt x="39394" y="176735"/>
                      <a:pt x="0" y="103262"/>
                      <a:pt x="20553" y="33338"/>
                    </a:cubicBezTo>
                    <a:cubicBezTo>
                      <a:pt x="55175" y="34922"/>
                      <a:pt x="89053" y="22965"/>
                      <a:pt x="115010" y="0"/>
                    </a:cubicBezTo>
                    <a:cubicBezTo>
                      <a:pt x="140967" y="22965"/>
                      <a:pt x="174845" y="34922"/>
                      <a:pt x="209466" y="33338"/>
                    </a:cubicBezTo>
                    <a:cubicBezTo>
                      <a:pt x="217008" y="58998"/>
                      <a:pt x="216660" y="86333"/>
                      <a:pt x="208466" y="111792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253538" y="19224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9079230" y="2066925"/>
              <a:ext cx="1298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cs-approver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0754" y="23660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审批把关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2857500"/>
            <a:ext cx="2476500" cy="1143000"/>
            <a:chOff x="571500" y="2857500"/>
            <a:chExt cx="2476500" cy="1143000"/>
          </a:xfrm>
        </p:grpSpPr>
        <p:sp>
          <p:nvSpPr>
            <p:cNvPr id="30" name="Rectangle 30"/>
            <p:cNvSpPr/>
            <p:nvPr/>
          </p:nvSpPr>
          <p:spPr>
            <a:xfrm>
              <a:off x="571500" y="28575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55663" y="3144838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3"/>
                  </a:moveTo>
                  <a:lnTo>
                    <a:pt x="55563" y="111125"/>
                  </a:lnTo>
                  <a:lnTo>
                    <a:pt x="166688" y="0"/>
                  </a:ln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2480" y="3400425"/>
              <a:ext cx="10117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cs-verify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4004" y="3699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结果核验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333750" y="2857500"/>
            <a:ext cx="2476500" cy="1143000"/>
            <a:chOff x="3333750" y="2857500"/>
            <a:chExt cx="2476500" cy="1143000"/>
          </a:xfrm>
        </p:grpSpPr>
        <p:sp>
          <p:nvSpPr>
            <p:cNvPr id="35" name="Rectangle 35"/>
            <p:cNvSpPr/>
            <p:nvPr/>
          </p:nvSpPr>
          <p:spPr>
            <a:xfrm>
              <a:off x="3333750" y="2857500"/>
              <a:ext cx="24765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3606800" y="3107213"/>
              <a:ext cx="177801" cy="186375"/>
              <a:chOff x="3606800" y="3107213"/>
              <a:chExt cx="177801" cy="1863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3606800" y="31072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177801" y="82075"/>
                    </a:moveTo>
                    <a:cubicBezTo>
                      <a:pt x="172214" y="41876"/>
                      <a:pt x="140416" y="10388"/>
                      <a:pt x="100165" y="5194"/>
                    </a:cubicBezTo>
                    <a:cubicBezTo>
                      <a:pt x="59913" y="0"/>
                      <a:pt x="21164" y="22386"/>
                      <a:pt x="5556" y="59850"/>
                    </a:cubicBezTo>
                    <a:moveTo>
                      <a:pt x="0" y="15400"/>
                    </a:moveTo>
                    <a:lnTo>
                      <a:pt x="0" y="59850"/>
                    </a:lnTo>
                    <a:lnTo>
                      <a:pt x="44450" y="598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606800" y="3211513"/>
                <a:ext cx="177801" cy="820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82075">
                    <a:moveTo>
                      <a:pt x="0" y="0"/>
                    </a:moveTo>
                    <a:cubicBezTo>
                      <a:pt x="5587" y="40199"/>
                      <a:pt x="37384" y="71688"/>
                      <a:pt x="77636" y="76881"/>
                    </a:cubicBezTo>
                    <a:cubicBezTo>
                      <a:pt x="117888" y="82075"/>
                      <a:pt x="156637" y="59689"/>
                      <a:pt x="172244" y="22225"/>
                    </a:cubicBezTo>
                    <a:moveTo>
                      <a:pt x="177801" y="66675"/>
                    </a:moveTo>
                    <a:lnTo>
                      <a:pt x="177801" y="22225"/>
                    </a:lnTo>
                    <a:lnTo>
                      <a:pt x="133350" y="22225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3554730" y="3400425"/>
              <a:ext cx="1054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cs-review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254" y="3699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案例复盘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96000" y="2857500"/>
            <a:ext cx="5238750" cy="1143000"/>
            <a:chOff x="6096000" y="2857500"/>
            <a:chExt cx="5238750" cy="1143000"/>
          </a:xfrm>
        </p:grpSpPr>
        <p:sp>
          <p:nvSpPr>
            <p:cNvPr id="42" name="Rectangle 42"/>
            <p:cNvSpPr/>
            <p:nvPr/>
          </p:nvSpPr>
          <p:spPr>
            <a:xfrm>
              <a:off x="6096000" y="2857500"/>
              <a:ext cx="5238750" cy="1143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418263" y="3100388"/>
              <a:ext cx="155575" cy="200026"/>
              <a:chOff x="6418263" y="3100388"/>
              <a:chExt cx="155575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18275" y="31003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418263" y="3100388"/>
                <a:ext cx="155575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6">
                    <a:moveTo>
                      <a:pt x="133350" y="200026"/>
                    </a:move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3" y="0"/>
                    </a:lnTo>
                    <a:lnTo>
                      <a:pt x="155575" y="55563"/>
                    </a:lnTo>
                    <a:lnTo>
                      <a:pt x="155575" y="177801"/>
                    </a:lnTo>
                    <a:cubicBezTo>
                      <a:pt x="155575" y="190075"/>
                      <a:pt x="145625" y="200026"/>
                      <a:pt x="133350" y="200026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462713" y="3167063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462713" y="321151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62713" y="3255963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355080" y="3400425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每单 9 文件证据链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356604" y="36995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聚合 · 意图 · 方案 · 执行 · 审批 · 核验 · 复盘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4381500"/>
            <a:ext cx="11049000" cy="1333500"/>
            <a:chOff x="571500" y="4381500"/>
            <a:chExt cx="11049000" cy="1333500"/>
          </a:xfrm>
        </p:grpSpPr>
        <p:sp>
          <p:nvSpPr>
            <p:cNvPr id="52" name="Rectangle 52"/>
            <p:cNvSpPr/>
            <p:nvPr/>
          </p:nvSpPr>
          <p:spPr>
            <a:xfrm>
              <a:off x="571500" y="438150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9630" y="463867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Microsoft YaHei"/>
                  <a:ea typeface="Microsoft YaHei"/>
                  <a:cs typeface="Microsoft YaHei"/>
                </a:rPr>
                <a:t>安全边界与异常处理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0392" y="5073968"/>
              <a:ext cx="361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&gt;100 元强制人工审批 + 幂等防重复 + 可回滚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392" y="5378768"/>
              <a:ext cx="50114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异常经 cs-review 复盘定位根因，沉淀强约束规则回写知识库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57" name="Line 57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622232"/>
            <a:ext cx="2271312" cy="322707"/>
            <a:chOff x="563118" y="2622232"/>
            <a:chExt cx="2271312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6222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第四章 · 本赛题必选项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166110"/>
            <a:ext cx="3820589" cy="819150"/>
            <a:chOff x="552450" y="3166110"/>
            <a:chExt cx="3820589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166110"/>
              <a:ext cx="382058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Skill 工程体系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0500" y="2381250"/>
            <a:ext cx="3810000" cy="1714500"/>
            <a:chOff x="7810500" y="2381250"/>
            <a:chExt cx="3810000" cy="1714500"/>
          </a:xfrm>
        </p:grpSpPr>
        <p:sp>
          <p:nvSpPr>
            <p:cNvPr id="6" name="Rectangle 6"/>
            <p:cNvSpPr/>
            <p:nvPr/>
          </p:nvSpPr>
          <p:spPr>
            <a:xfrm>
              <a:off x="7810500" y="2381250"/>
              <a:ext cx="38100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46542" y="2711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对应评分维度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44256" y="3063240"/>
              <a:ext cx="2925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Skill 工程体系与生态复用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8160" y="3486150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25%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11" name="Line 11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4319016" cy="849630"/>
            <a:chOff x="556260" y="575310"/>
            <a:chExt cx="4319016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第四章 · Skill 工程体系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43190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6 个 Skill，9 要素规格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524000"/>
            <a:ext cx="3524250" cy="1428750"/>
            <a:chOff x="571500" y="1524000"/>
            <a:chExt cx="3524250" cy="1428750"/>
          </a:xfrm>
        </p:grpSpPr>
        <p:sp>
          <p:nvSpPr>
            <p:cNvPr id="5" name="Rectangle 5"/>
            <p:cNvSpPr/>
            <p:nvPr/>
          </p:nvSpPr>
          <p:spPr>
            <a:xfrm>
              <a:off x="571500" y="1524000"/>
              <a:ext cx="35242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61727" y="1810048"/>
              <a:ext cx="237696" cy="210705"/>
            </a:xfrm>
            <a:custGeom>
              <a:avLst/>
              <a:gdLst/>
              <a:ahLst/>
              <a:cxnLst/>
              <a:rect l="l" t="t" r="r" b="b"/>
              <a:pathLst>
                <a:path w="237696" h="210705">
                  <a:moveTo>
                    <a:pt x="12192" y="199727"/>
                  </a:moveTo>
                  <a:lnTo>
                    <a:pt x="27670" y="153293"/>
                  </a:lnTo>
                  <a:cubicBezTo>
                    <a:pt x="0" y="112371"/>
                    <a:pt x="10692" y="59567"/>
                    <a:pt x="52673" y="29778"/>
                  </a:cubicBezTo>
                  <a:cubicBezTo>
                    <a:pt x="94655" y="0"/>
                    <a:pt x="154948" y="2441"/>
                    <a:pt x="193703" y="35493"/>
                  </a:cubicBezTo>
                  <a:cubicBezTo>
                    <a:pt x="232458" y="68556"/>
                    <a:pt x="237696" y="122003"/>
                    <a:pt x="205954" y="160520"/>
                  </a:cubicBezTo>
                  <a:cubicBezTo>
                    <a:pt x="174212" y="199037"/>
                    <a:pt x="115288" y="210705"/>
                    <a:pt x="68151" y="187821"/>
                  </a:cubicBezTo>
                  <a:lnTo>
                    <a:pt x="12192" y="199727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68730" y="1838325"/>
              <a:ext cx="2008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ticket-aggregation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1723" y="2243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工单聚合去重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1723" y="2529364"/>
              <a:ext cx="2029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三级去重 + bigram 相似度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333875" y="1524000"/>
            <a:ext cx="3524250" cy="1428750"/>
            <a:chOff x="4333875" y="1524000"/>
            <a:chExt cx="3524250" cy="1428750"/>
          </a:xfrm>
        </p:grpSpPr>
        <p:sp>
          <p:nvSpPr>
            <p:cNvPr id="11" name="Rectangle 11"/>
            <p:cNvSpPr/>
            <p:nvPr/>
          </p:nvSpPr>
          <p:spPr>
            <a:xfrm>
              <a:off x="4333875" y="1524000"/>
              <a:ext cx="35242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636294" y="1819275"/>
              <a:ext cx="202406" cy="190500"/>
            </a:xfrm>
            <a:custGeom>
              <a:avLst/>
              <a:gdLst/>
              <a:ahLst/>
              <a:cxnLst/>
              <a:rect l="l" t="t" r="r" b="b"/>
              <a:pathLst>
                <a:path w="202406" h="190500">
                  <a:moveTo>
                    <a:pt x="154781" y="166688"/>
                  </a:moveTo>
                  <a:cubicBezTo>
                    <a:pt x="167933" y="166688"/>
                    <a:pt x="178594" y="177349"/>
                    <a:pt x="178594" y="190500"/>
                  </a:cubicBezTo>
                  <a:cubicBezTo>
                    <a:pt x="178594" y="177349"/>
                    <a:pt x="189255" y="166688"/>
                    <a:pt x="202406" y="166688"/>
                  </a:cubicBezTo>
                  <a:cubicBezTo>
                    <a:pt x="189255" y="166688"/>
                    <a:pt x="178594" y="156026"/>
                    <a:pt x="178594" y="142875"/>
                  </a:cubicBezTo>
                  <a:cubicBezTo>
                    <a:pt x="178594" y="156026"/>
                    <a:pt x="167933" y="166688"/>
                    <a:pt x="154781" y="166688"/>
                  </a:cubicBezTo>
                  <a:moveTo>
                    <a:pt x="154781" y="23812"/>
                  </a:moveTo>
                  <a:cubicBezTo>
                    <a:pt x="167933" y="23812"/>
                    <a:pt x="178594" y="34474"/>
                    <a:pt x="178594" y="47625"/>
                  </a:cubicBezTo>
                  <a:cubicBezTo>
                    <a:pt x="178594" y="34474"/>
                    <a:pt x="189255" y="23812"/>
                    <a:pt x="202406" y="23812"/>
                  </a:cubicBezTo>
                  <a:cubicBezTo>
                    <a:pt x="189255" y="23812"/>
                    <a:pt x="178594" y="13151"/>
                    <a:pt x="178594" y="0"/>
                  </a:cubicBezTo>
                  <a:cubicBezTo>
                    <a:pt x="178594" y="13151"/>
                    <a:pt x="167933" y="23812"/>
                    <a:pt x="154781" y="23812"/>
                  </a:cubicBezTo>
                  <a:moveTo>
                    <a:pt x="71438" y="166688"/>
                  </a:moveTo>
                  <a:cubicBezTo>
                    <a:pt x="71438" y="127234"/>
                    <a:pt x="103421" y="95250"/>
                    <a:pt x="142875" y="95250"/>
                  </a:cubicBezTo>
                  <a:cubicBezTo>
                    <a:pt x="103421" y="95250"/>
                    <a:pt x="71438" y="63266"/>
                    <a:pt x="71438" y="23812"/>
                  </a:cubicBezTo>
                  <a:cubicBezTo>
                    <a:pt x="71438" y="63266"/>
                    <a:pt x="39454" y="95250"/>
                    <a:pt x="0" y="95250"/>
                  </a:cubicBezTo>
                  <a:cubicBezTo>
                    <a:pt x="39454" y="95250"/>
                    <a:pt x="71438" y="127234"/>
                    <a:pt x="71438" y="166688"/>
                  </a:cubicBez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031105" y="1838325"/>
              <a:ext cx="2199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intent-classification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94098" y="22436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意图识别分级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94098" y="252936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规则优先 + 三级路由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096250" y="1524000"/>
            <a:ext cx="3524250" cy="1428750"/>
            <a:chOff x="8096250" y="1524000"/>
            <a:chExt cx="3524250" cy="1428750"/>
          </a:xfrm>
        </p:grpSpPr>
        <p:sp>
          <p:nvSpPr>
            <p:cNvPr id="17" name="Rectangle 17"/>
            <p:cNvSpPr/>
            <p:nvPr/>
          </p:nvSpPr>
          <p:spPr>
            <a:xfrm>
              <a:off x="8096250" y="1524000"/>
              <a:ext cx="35242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391575" y="1800275"/>
              <a:ext cx="225317" cy="225317"/>
            </a:xfrm>
            <a:custGeom>
              <a:avLst/>
              <a:gdLst/>
              <a:ahLst/>
              <a:cxnLst/>
              <a:rect l="l" t="t" r="r" b="b"/>
              <a:pathLst>
                <a:path w="225317" h="225317">
                  <a:moveTo>
                    <a:pt x="54719" y="90438"/>
                  </a:moveTo>
                  <a:lnTo>
                    <a:pt x="90438" y="90438"/>
                  </a:lnTo>
                  <a:lnTo>
                    <a:pt x="90438" y="54719"/>
                  </a:lnTo>
                  <a:lnTo>
                    <a:pt x="48766" y="13047"/>
                  </a:lnTo>
                  <a:cubicBezTo>
                    <a:pt x="76084" y="0"/>
                    <a:pt x="108660" y="5589"/>
                    <a:pt x="130067" y="26996"/>
                  </a:cubicBezTo>
                  <a:cubicBezTo>
                    <a:pt x="151474" y="48403"/>
                    <a:pt x="157063" y="80979"/>
                    <a:pt x="144016" y="108297"/>
                  </a:cubicBezTo>
                  <a:lnTo>
                    <a:pt x="215453" y="179735"/>
                  </a:lnTo>
                  <a:cubicBezTo>
                    <a:pt x="225317" y="189598"/>
                    <a:pt x="225317" y="205590"/>
                    <a:pt x="215453" y="215453"/>
                  </a:cubicBezTo>
                  <a:cubicBezTo>
                    <a:pt x="205590" y="225317"/>
                    <a:pt x="189598" y="225317"/>
                    <a:pt x="179735" y="215453"/>
                  </a:cubicBezTo>
                  <a:lnTo>
                    <a:pt x="108297" y="144016"/>
                  </a:lnTo>
                  <a:cubicBezTo>
                    <a:pt x="80979" y="157063"/>
                    <a:pt x="48403" y="151474"/>
                    <a:pt x="26996" y="130067"/>
                  </a:cubicBezTo>
                  <a:cubicBezTo>
                    <a:pt x="5589" y="108660"/>
                    <a:pt x="0" y="76084"/>
                    <a:pt x="13047" y="48766"/>
                  </a:cubicBezTo>
                  <a:lnTo>
                    <a:pt x="54719" y="90438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93480" y="1838325"/>
              <a:ext cx="2071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solution-generation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6473" y="2243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方案生成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6473" y="252936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金额阈值 + 审批等级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238500"/>
            <a:ext cx="3524250" cy="1428750"/>
            <a:chOff x="571500" y="3238500"/>
            <a:chExt cx="3524250" cy="1428750"/>
          </a:xfrm>
        </p:grpSpPr>
        <p:sp>
          <p:nvSpPr>
            <p:cNvPr id="23" name="Rectangle 23"/>
            <p:cNvSpPr/>
            <p:nvPr/>
          </p:nvSpPr>
          <p:spPr>
            <a:xfrm>
              <a:off x="571500" y="3238500"/>
              <a:ext cx="35242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97731" y="3533775"/>
              <a:ext cx="178595" cy="190500"/>
              <a:chOff x="897731" y="3533775"/>
              <a:chExt cx="178595" cy="190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897731" y="3676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7731" y="35337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16794" y="35337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21544" y="3581400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45356" y="3617119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04888" y="3617119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268730" y="3552825"/>
              <a:ext cx="21249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operation-execution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723" y="39581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业务操作执行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1723" y="4243864"/>
              <a:ext cx="161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幂等键 + 重试 + 回滚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33875" y="3238500"/>
            <a:ext cx="3524250" cy="1428750"/>
            <a:chOff x="4333875" y="3238500"/>
            <a:chExt cx="3524250" cy="1428750"/>
          </a:xfrm>
        </p:grpSpPr>
        <p:sp>
          <p:nvSpPr>
            <p:cNvPr id="35" name="Rectangle 35"/>
            <p:cNvSpPr/>
            <p:nvPr/>
          </p:nvSpPr>
          <p:spPr>
            <a:xfrm>
              <a:off x="4333875" y="3238500"/>
              <a:ext cx="35242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4660106" y="3569494"/>
              <a:ext cx="178594" cy="119062"/>
            </a:xfrm>
            <a:custGeom>
              <a:avLst/>
              <a:gdLst/>
              <a:ahLst/>
              <a:cxnLst/>
              <a:rect l="l" t="t" r="r" b="b"/>
              <a:pathLst>
                <a:path w="178594" h="119062">
                  <a:moveTo>
                    <a:pt x="0" y="59531"/>
                  </a:moveTo>
                  <a:lnTo>
                    <a:pt x="59531" y="119062"/>
                  </a:lnTo>
                  <a:lnTo>
                    <a:pt x="178594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31105" y="3552825"/>
              <a:ext cx="2018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result-verification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94098" y="3958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结果核验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94098" y="4243864"/>
              <a:ext cx="17619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执行比对 + 满意度解析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96250" y="3238500"/>
            <a:ext cx="3524250" cy="1428750"/>
            <a:chOff x="8096250" y="3238500"/>
            <a:chExt cx="3524250" cy="1428750"/>
          </a:xfrm>
        </p:grpSpPr>
        <p:sp>
          <p:nvSpPr>
            <p:cNvPr id="41" name="Rectangle 41"/>
            <p:cNvSpPr/>
            <p:nvPr/>
          </p:nvSpPr>
          <p:spPr>
            <a:xfrm>
              <a:off x="8096250" y="3238500"/>
              <a:ext cx="352425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10575" y="3529181"/>
              <a:ext cx="190500" cy="199688"/>
              <a:chOff x="8410575" y="3529181"/>
              <a:chExt cx="190500" cy="19968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10575" y="352918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190500" y="87938"/>
                    </a:moveTo>
                    <a:cubicBezTo>
                      <a:pt x="184514" y="44867"/>
                      <a:pt x="150446" y="11129"/>
                      <a:pt x="107319" y="5565"/>
                    </a:cubicBezTo>
                    <a:cubicBezTo>
                      <a:pt x="64192" y="0"/>
                      <a:pt x="22676" y="23985"/>
                      <a:pt x="5953" y="64125"/>
                    </a:cubicBezTo>
                    <a:moveTo>
                      <a:pt x="0" y="16500"/>
                    </a:moveTo>
                    <a:lnTo>
                      <a:pt x="0" y="64125"/>
                    </a:lnTo>
                    <a:lnTo>
                      <a:pt x="47625" y="64125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10575" y="3640931"/>
                <a:ext cx="190500" cy="879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87938">
                    <a:moveTo>
                      <a:pt x="0" y="0"/>
                    </a:moveTo>
                    <a:cubicBezTo>
                      <a:pt x="5986" y="43070"/>
                      <a:pt x="40054" y="76808"/>
                      <a:pt x="83181" y="82373"/>
                    </a:cubicBezTo>
                    <a:cubicBezTo>
                      <a:pt x="126308" y="87938"/>
                      <a:pt x="167824" y="63953"/>
                      <a:pt x="184547" y="23812"/>
                    </a:cubicBezTo>
                    <a:moveTo>
                      <a:pt x="190500" y="71438"/>
                    </a:moveTo>
                    <a:lnTo>
                      <a:pt x="190500" y="23812"/>
                    </a:lnTo>
                    <a:lnTo>
                      <a:pt x="142875" y="23812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8793480" y="3552825"/>
              <a:ext cx="23051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knowledge-distillation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56473" y="39581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复盘沉淀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56473" y="4243864"/>
              <a:ext cx="1706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FAQ 提炼 + 知识回写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5048250"/>
            <a:ext cx="11049000" cy="857250"/>
            <a:chOff x="571500" y="5048250"/>
            <a:chExt cx="11049000" cy="857250"/>
          </a:xfrm>
        </p:grpSpPr>
        <p:sp>
          <p:nvSpPr>
            <p:cNvPr id="49" name="Rectangle 49"/>
            <p:cNvSpPr/>
            <p:nvPr/>
          </p:nvSpPr>
          <p:spPr>
            <a:xfrm>
              <a:off x="571500" y="5048250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chemeClr val="lt1"/>
            </a:solidFill>
            <a:ln w="9525">
              <a:solidFill>
                <a:srgbClr val="F0E0CC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9630" y="5248275"/>
              <a:ext cx="2534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每个 Skill 均含 9 要素规格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0773" y="5577364"/>
              <a:ext cx="7112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名称 / 用途 / 输入输出 / 调用条件 / 依赖工具 / 失败处理 / 安全边界 / 复用价值 / 协同关系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53" name="Line 53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11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622232"/>
            <a:ext cx="683133" cy="322707"/>
            <a:chOff x="563118" y="262223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6222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第五章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53212" y="3116580"/>
            <a:ext cx="4616348" cy="1237488"/>
            <a:chOff x="553212" y="3116580"/>
            <a:chExt cx="4616348" cy="1237488"/>
          </a:xfrm>
        </p:grpSpPr>
        <p:sp>
          <p:nvSpPr>
            <p:cNvPr id="4" name="TextBox 4"/>
            <p:cNvSpPr txBox="1"/>
            <p:nvPr/>
          </p:nvSpPr>
          <p:spPr>
            <a:xfrm>
              <a:off x="553212" y="3116580"/>
              <a:ext cx="461634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工程落地、运行验证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3212" y="3649980"/>
              <a:ext cx="308975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与安全可审计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10500" y="2381250"/>
            <a:ext cx="3810000" cy="1714500"/>
            <a:chOff x="7810500" y="2381250"/>
            <a:chExt cx="3810000" cy="1714500"/>
          </a:xfrm>
        </p:grpSpPr>
        <p:sp>
          <p:nvSpPr>
            <p:cNvPr id="7" name="Rectangle 7"/>
            <p:cNvSpPr/>
            <p:nvPr/>
          </p:nvSpPr>
          <p:spPr>
            <a:xfrm>
              <a:off x="7810500" y="2381250"/>
              <a:ext cx="38100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46542" y="2711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对应评分维度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4256" y="30632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工程落地与安全可审计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38160" y="3486150"/>
              <a:ext cx="814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20%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12" name="Line 12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12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4504239" cy="849630"/>
            <a:chOff x="556260" y="575310"/>
            <a:chExt cx="4504239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第五章 · 工程落地与运行验证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450423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10 单压测，平均 5 分钟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63880" y="1647825"/>
            <a:ext cx="3927129" cy="293370"/>
            <a:chOff x="563880" y="1647825"/>
            <a:chExt cx="3927129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563880" y="1647825"/>
              <a:ext cx="39271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批量退款压测（10 单串行，10/10 完成）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4249102"/>
            <a:ext cx="419100" cy="1100709"/>
            <a:chOff x="571500" y="4249102"/>
            <a:chExt cx="419100" cy="1100709"/>
          </a:xfrm>
        </p:grpSpPr>
        <p:sp>
          <p:nvSpPr>
            <p:cNvPr id="7" name="Rectangle 7"/>
            <p:cNvSpPr/>
            <p:nvPr/>
          </p:nvSpPr>
          <p:spPr>
            <a:xfrm>
              <a:off x="571500" y="4476750"/>
              <a:ext cx="419100" cy="571500"/>
            </a:xfrm>
            <a:prstGeom prst="roundRect">
              <a:avLst>
                <a:gd name="adj" fmla="val 1363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20230" y="42491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6:41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9357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38250" y="4439602"/>
            <a:ext cx="419100" cy="910209"/>
            <a:chOff x="1238250" y="4439602"/>
            <a:chExt cx="419100" cy="910209"/>
          </a:xfrm>
        </p:grpSpPr>
        <p:sp>
          <p:nvSpPr>
            <p:cNvPr id="11" name="Rectangle 11"/>
            <p:cNvSpPr/>
            <p:nvPr/>
          </p:nvSpPr>
          <p:spPr>
            <a:xfrm>
              <a:off x="1238250" y="4667250"/>
              <a:ext cx="4191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86980" y="4439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5:18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6032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905000" y="4534852"/>
            <a:ext cx="419100" cy="814959"/>
            <a:chOff x="1905000" y="4534852"/>
            <a:chExt cx="419100" cy="814959"/>
          </a:xfrm>
        </p:grpSpPr>
        <p:sp>
          <p:nvSpPr>
            <p:cNvPr id="15" name="Rectangle 15"/>
            <p:cNvSpPr/>
            <p:nvPr/>
          </p:nvSpPr>
          <p:spPr>
            <a:xfrm>
              <a:off x="1905000" y="4762500"/>
              <a:ext cx="419100" cy="2857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53730" y="45348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4:22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707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571750" y="4534852"/>
            <a:ext cx="419100" cy="814959"/>
            <a:chOff x="2571750" y="4534852"/>
            <a:chExt cx="419100" cy="814959"/>
          </a:xfrm>
        </p:grpSpPr>
        <p:sp>
          <p:nvSpPr>
            <p:cNvPr id="19" name="Rectangle 19"/>
            <p:cNvSpPr/>
            <p:nvPr/>
          </p:nvSpPr>
          <p:spPr>
            <a:xfrm>
              <a:off x="2571750" y="4762500"/>
              <a:ext cx="419100" cy="2857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20480" y="45348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4:23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9382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238500" y="4249102"/>
            <a:ext cx="419100" cy="1100709"/>
            <a:chOff x="3238500" y="4249102"/>
            <a:chExt cx="419100" cy="1100709"/>
          </a:xfrm>
        </p:grpSpPr>
        <p:sp>
          <p:nvSpPr>
            <p:cNvPr id="23" name="Rectangle 23"/>
            <p:cNvSpPr/>
            <p:nvPr/>
          </p:nvSpPr>
          <p:spPr>
            <a:xfrm>
              <a:off x="3238500" y="4476750"/>
              <a:ext cx="419100" cy="571500"/>
            </a:xfrm>
            <a:prstGeom prst="roundRect">
              <a:avLst>
                <a:gd name="adj" fmla="val 1363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287230" y="42491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5:46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6057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T5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905250" y="4439602"/>
            <a:ext cx="419100" cy="910209"/>
            <a:chOff x="3905250" y="4439602"/>
            <a:chExt cx="419100" cy="910209"/>
          </a:xfrm>
        </p:grpSpPr>
        <p:sp>
          <p:nvSpPr>
            <p:cNvPr id="27" name="Rectangle 27"/>
            <p:cNvSpPr/>
            <p:nvPr/>
          </p:nvSpPr>
          <p:spPr>
            <a:xfrm>
              <a:off x="3905250" y="4667250"/>
              <a:ext cx="4191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953980" y="4439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4:50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2732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72000" y="3582352"/>
            <a:ext cx="419100" cy="1767459"/>
            <a:chOff x="4572000" y="3582352"/>
            <a:chExt cx="419100" cy="1767459"/>
          </a:xfrm>
        </p:grpSpPr>
        <p:sp>
          <p:nvSpPr>
            <p:cNvPr id="31" name="Rectangle 31"/>
            <p:cNvSpPr/>
            <p:nvPr/>
          </p:nvSpPr>
          <p:spPr>
            <a:xfrm>
              <a:off x="4572000" y="3810000"/>
              <a:ext cx="419100" cy="1238250"/>
            </a:xfrm>
            <a:prstGeom prst="roundRect">
              <a:avLst>
                <a:gd name="adj" fmla="val 1363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81858" y="358235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16:03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69407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T7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38750" y="4439602"/>
            <a:ext cx="419100" cy="910209"/>
            <a:chOff x="5238750" y="4439602"/>
            <a:chExt cx="419100" cy="910209"/>
          </a:xfrm>
        </p:grpSpPr>
        <p:sp>
          <p:nvSpPr>
            <p:cNvPr id="35" name="Rectangle 35"/>
            <p:cNvSpPr/>
            <p:nvPr/>
          </p:nvSpPr>
          <p:spPr>
            <a:xfrm>
              <a:off x="5238750" y="4667250"/>
              <a:ext cx="4191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87480" y="4439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5:38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6082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T8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905500" y="4439602"/>
            <a:ext cx="419100" cy="910209"/>
            <a:chOff x="5905500" y="4439602"/>
            <a:chExt cx="419100" cy="910209"/>
          </a:xfrm>
        </p:grpSpPr>
        <p:sp>
          <p:nvSpPr>
            <p:cNvPr id="39" name="Rectangle 39"/>
            <p:cNvSpPr/>
            <p:nvPr/>
          </p:nvSpPr>
          <p:spPr>
            <a:xfrm>
              <a:off x="5905500" y="4667250"/>
              <a:ext cx="419100" cy="381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54230" y="44396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5:25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7572" y="5144452"/>
              <a:ext cx="1749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T9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72250" y="4249102"/>
            <a:ext cx="419100" cy="1100709"/>
            <a:chOff x="6572250" y="4249102"/>
            <a:chExt cx="419100" cy="1100709"/>
          </a:xfrm>
        </p:grpSpPr>
        <p:sp>
          <p:nvSpPr>
            <p:cNvPr id="43" name="Rectangle 43"/>
            <p:cNvSpPr/>
            <p:nvPr/>
          </p:nvSpPr>
          <p:spPr>
            <a:xfrm>
              <a:off x="6572250" y="4476750"/>
              <a:ext cx="419100" cy="571500"/>
            </a:xfrm>
            <a:prstGeom prst="roundRect">
              <a:avLst>
                <a:gd name="adj" fmla="val 1363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20980" y="42491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5:47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3251" y="5144452"/>
              <a:ext cx="257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T10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0" y="1619250"/>
            <a:ext cx="4000500" cy="1619250"/>
            <a:chOff x="7620000" y="1619250"/>
            <a:chExt cx="4000500" cy="1619250"/>
          </a:xfrm>
        </p:grpSpPr>
        <p:sp>
          <p:nvSpPr>
            <p:cNvPr id="47" name="Rectangle 47"/>
            <p:cNvSpPr/>
            <p:nvPr/>
          </p:nvSpPr>
          <p:spPr>
            <a:xfrm>
              <a:off x="7620000" y="1619250"/>
              <a:ext cx="4000500" cy="161925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941469" y="1938338"/>
              <a:ext cx="214312" cy="142875"/>
              <a:chOff x="7941469" y="1938338"/>
              <a:chExt cx="214312" cy="14287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024812" y="1985962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41469" y="1938338"/>
                <a:ext cx="2143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42875">
                    <a:moveTo>
                      <a:pt x="214312" y="71438"/>
                    </a:moveTo>
                    <a:cubicBezTo>
                      <a:pt x="185738" y="119062"/>
                      <a:pt x="150019" y="142875"/>
                      <a:pt x="107156" y="142875"/>
                    </a:cubicBezTo>
                    <a:cubicBezTo>
                      <a:pt x="64294" y="142875"/>
                      <a:pt x="28575" y="119062"/>
                      <a:pt x="0" y="71438"/>
                    </a:cubicBezTo>
                    <a:cubicBezTo>
                      <a:pt x="28575" y="23812"/>
                      <a:pt x="64294" y="0"/>
                      <a:pt x="107156" y="0"/>
                    </a:cubicBezTo>
                    <a:cubicBezTo>
                      <a:pt x="150019" y="0"/>
                      <a:pt x="185738" y="23812"/>
                      <a:pt x="214312" y="71438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336280" y="1933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可观测性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99273" y="2357914"/>
              <a:ext cx="1866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阿里云 AI Agent 可观测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99273" y="2681764"/>
              <a:ext cx="36875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真实链路：TTFT 2.02s · TPOT 0.006s/token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20000" y="3429000"/>
            <a:ext cx="4000500" cy="1619250"/>
            <a:chOff x="7620000" y="3429000"/>
            <a:chExt cx="4000500" cy="1619250"/>
          </a:xfrm>
        </p:grpSpPr>
        <p:sp>
          <p:nvSpPr>
            <p:cNvPr id="55" name="Rectangle 55"/>
            <p:cNvSpPr/>
            <p:nvPr/>
          </p:nvSpPr>
          <p:spPr>
            <a:xfrm>
              <a:off x="7620000" y="3429000"/>
              <a:ext cx="4000500" cy="161925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7925401" y="3712369"/>
              <a:ext cx="232508" cy="214312"/>
              <a:chOff x="7925401" y="3712369"/>
              <a:chExt cx="232508" cy="214312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925401" y="37123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084344" y="38790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chemeClr val="accent3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336280" y="3743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安全治理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899273" y="41676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合规复盘定位审批越权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899273" y="44915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沉淀强约束规则回写知识库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5023" y="5844064"/>
            <a:ext cx="5056215" cy="249364"/>
            <a:chOff x="565023" y="5844064"/>
            <a:chExt cx="5056215" cy="249364"/>
          </a:xfrm>
        </p:grpSpPr>
        <p:sp>
          <p:nvSpPr>
            <p:cNvPr id="63" name="TextBox 63"/>
            <p:cNvSpPr txBox="1"/>
            <p:nvPr/>
          </p:nvSpPr>
          <p:spPr>
            <a:xfrm>
              <a:off x="565023" y="5844064"/>
              <a:ext cx="50562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注：T7 含人工审批补正（异常单）；其余 9 单平均约 5 分钟。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65" name="Line 65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622232"/>
            <a:ext cx="683133" cy="322707"/>
            <a:chOff x="563118" y="262223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6222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第六章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166110"/>
            <a:ext cx="4282871" cy="819150"/>
            <a:chOff x="552450" y="3166110"/>
            <a:chExt cx="4282871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166110"/>
              <a:ext cx="42828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开放 / 开源计划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10500" y="2381250"/>
            <a:ext cx="3810000" cy="1714500"/>
            <a:chOff x="7810500" y="2381250"/>
            <a:chExt cx="3810000" cy="1714500"/>
          </a:xfrm>
        </p:grpSpPr>
        <p:sp>
          <p:nvSpPr>
            <p:cNvPr id="6" name="Rectangle 6"/>
            <p:cNvSpPr/>
            <p:nvPr/>
          </p:nvSpPr>
          <p:spPr>
            <a:xfrm>
              <a:off x="7810500" y="2381250"/>
              <a:ext cx="3810000" cy="171450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46542" y="27117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对应评分维度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44256" y="306324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开放 / 开源贡献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38160" y="3486150"/>
              <a:ext cx="58174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5%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11" name="Line 11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14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4447672" cy="849630"/>
            <a:chOff x="556260" y="575310"/>
            <a:chExt cx="4447672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第六章 · 开放 / 开源计划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444767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代码开源，Skill 进市场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714500"/>
            <a:ext cx="3524250" cy="2857500"/>
            <a:chOff x="571500" y="1714500"/>
            <a:chExt cx="3524250" cy="2857500"/>
          </a:xfrm>
        </p:grpSpPr>
        <p:sp>
          <p:nvSpPr>
            <p:cNvPr id="5" name="Rectangle 5"/>
            <p:cNvSpPr/>
            <p:nvPr/>
          </p:nvSpPr>
          <p:spPr>
            <a:xfrm>
              <a:off x="571500" y="1714500"/>
              <a:ext cx="3524250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928688" y="2062162"/>
              <a:ext cx="200025" cy="257175"/>
              <a:chOff x="928688" y="2062162"/>
              <a:chExt cx="200025" cy="2571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57275" y="206216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28688" y="206216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85838" y="214788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85838" y="22050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85838" y="22621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48868" y="25650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可部署代码包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0392" y="2997518"/>
              <a:ext cx="21491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agentteams-cs-package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0392" y="3302318"/>
              <a:ext cx="24296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env 配置 + Manager/Worker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3607118"/>
              <a:ext cx="1723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身份快照 + 6 个 Skill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33875" y="1714500"/>
            <a:ext cx="3524250" cy="2857500"/>
            <a:chOff x="4333875" y="1714500"/>
            <a:chExt cx="3524250" cy="2857500"/>
          </a:xfrm>
        </p:grpSpPr>
        <p:sp>
          <p:nvSpPr>
            <p:cNvPr id="17" name="Rectangle 17"/>
            <p:cNvSpPr/>
            <p:nvPr/>
          </p:nvSpPr>
          <p:spPr>
            <a:xfrm>
              <a:off x="4333875" y="1714500"/>
              <a:ext cx="3524250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53975" y="2053650"/>
              <a:ext cx="270380" cy="270380"/>
            </a:xfrm>
            <a:custGeom>
              <a:avLst/>
              <a:gdLst/>
              <a:ahLst/>
              <a:cxnLst/>
              <a:rect l="l" t="t" r="r" b="b"/>
              <a:pathLst>
                <a:path w="270380" h="270380">
                  <a:moveTo>
                    <a:pt x="65663" y="108525"/>
                  </a:moveTo>
                  <a:lnTo>
                    <a:pt x="108525" y="108525"/>
                  </a:lnTo>
                  <a:lnTo>
                    <a:pt x="108525" y="65663"/>
                  </a:lnTo>
                  <a:lnTo>
                    <a:pt x="58519" y="15656"/>
                  </a:lnTo>
                  <a:cubicBezTo>
                    <a:pt x="91301" y="0"/>
                    <a:pt x="130392" y="6707"/>
                    <a:pt x="156080" y="32395"/>
                  </a:cubicBezTo>
                  <a:cubicBezTo>
                    <a:pt x="181768" y="58084"/>
                    <a:pt x="188475" y="97174"/>
                    <a:pt x="172819" y="129956"/>
                  </a:cubicBezTo>
                  <a:lnTo>
                    <a:pt x="258544" y="215681"/>
                  </a:lnTo>
                  <a:cubicBezTo>
                    <a:pt x="270380" y="227518"/>
                    <a:pt x="270380" y="246708"/>
                    <a:pt x="258544" y="258544"/>
                  </a:cubicBezTo>
                  <a:cubicBezTo>
                    <a:pt x="246708" y="270380"/>
                    <a:pt x="227518" y="270380"/>
                    <a:pt x="215681" y="258544"/>
                  </a:cubicBezTo>
                  <a:lnTo>
                    <a:pt x="129956" y="172819"/>
                  </a:lnTo>
                  <a:cubicBezTo>
                    <a:pt x="97174" y="188475"/>
                    <a:pt x="58084" y="181768"/>
                    <a:pt x="32395" y="156080"/>
                  </a:cubicBezTo>
                  <a:cubicBezTo>
                    <a:pt x="6707" y="130392"/>
                    <a:pt x="0" y="91301"/>
                    <a:pt x="15656" y="58519"/>
                  </a:cubicBezTo>
                  <a:lnTo>
                    <a:pt x="65663" y="1085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11243" y="2565082"/>
              <a:ext cx="1502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Skill 发布市场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12767" y="2997518"/>
              <a:ext cx="1566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6 个客服 Skill 沉淀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12767" y="3302318"/>
              <a:ext cx="1906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发布 AgentTeams 市场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12767" y="36071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其他企业直接导入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096250" y="1714500"/>
            <a:ext cx="3524250" cy="2857500"/>
            <a:chOff x="8096250" y="1714500"/>
            <a:chExt cx="3524250" cy="2857500"/>
          </a:xfrm>
        </p:grpSpPr>
        <p:sp>
          <p:nvSpPr>
            <p:cNvPr id="24" name="Rectangle 24"/>
            <p:cNvSpPr/>
            <p:nvPr/>
          </p:nvSpPr>
          <p:spPr>
            <a:xfrm>
              <a:off x="8096250" y="1714500"/>
              <a:ext cx="3524250" cy="2857500"/>
            </a:xfrm>
            <a:prstGeom prst="roundRect">
              <a:avLst>
                <a:gd name="adj" fmla="val 4667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453438" y="2076450"/>
              <a:ext cx="214312" cy="228600"/>
              <a:chOff x="8453438" y="2076450"/>
              <a:chExt cx="214312" cy="2286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453438" y="22479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453438" y="20764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96312" y="20764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482012" y="2133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510588" y="21764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582025" y="21764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8373618" y="25650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编排模式可迁移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75142" y="2997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电商客服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75142" y="330231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运维工单 / 合规审核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5142" y="36071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本地私有化部署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37" name="Line 37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15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907982"/>
            <a:ext cx="683133" cy="322707"/>
            <a:chOff x="563118" y="290798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9079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第七章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451860"/>
            <a:ext cx="4193819" cy="819150"/>
            <a:chOff x="552450" y="3451860"/>
            <a:chExt cx="4193819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45186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落地计划与进展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3880" y="4314825"/>
            <a:ext cx="2640330" cy="293370"/>
            <a:chOff x="563880" y="4314825"/>
            <a:chExt cx="264033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4314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当前进展、里程碑与风险控制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8" name="Line 8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3422904" cy="849630"/>
            <a:chOff x="556260" y="575310"/>
            <a:chExt cx="3422904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第七章 · 落地计划与进展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342290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三阶段，稳步推进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905000"/>
            <a:ext cx="3429000" cy="3048000"/>
            <a:chOff x="571500" y="1905000"/>
            <a:chExt cx="3429000" cy="3048000"/>
          </a:xfrm>
        </p:grpSpPr>
        <p:sp>
          <p:nvSpPr>
            <p:cNvPr id="5" name="Rectangle 5"/>
            <p:cNvSpPr/>
            <p:nvPr/>
          </p:nvSpPr>
          <p:spPr>
            <a:xfrm>
              <a:off x="571500" y="1905000"/>
              <a:ext cx="3429000" cy="3048000"/>
            </a:xfrm>
            <a:prstGeom prst="roundRect">
              <a:avLst>
                <a:gd name="adj" fmla="val 437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9630" y="2219325"/>
              <a:ext cx="15312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阶段一 · 已完成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8106" y="2663190"/>
              <a:ext cx="1837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环境部署 + 组队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0392" y="3188018"/>
              <a:ext cx="17840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6 Worker 创建并组队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50392" y="3511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端到端工单跑通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0392" y="3835718"/>
              <a:ext cx="1176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 单压测完成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0392" y="4159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可观测接入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276344" y="3294698"/>
            <a:ext cx="164192" cy="381381"/>
            <a:chOff x="4276344" y="3294698"/>
            <a:chExt cx="164192" cy="381381"/>
          </a:xfrm>
        </p:grpSpPr>
        <p:sp>
          <p:nvSpPr>
            <p:cNvPr id="13" name="TextBox 13"/>
            <p:cNvSpPr txBox="1"/>
            <p:nvPr/>
          </p:nvSpPr>
          <p:spPr>
            <a:xfrm>
              <a:off x="4276344" y="3294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572000" y="1905000"/>
            <a:ext cx="3429000" cy="3048000"/>
            <a:chOff x="4572000" y="1905000"/>
            <a:chExt cx="3429000" cy="3048000"/>
          </a:xfrm>
        </p:grpSpPr>
        <p:sp>
          <p:nvSpPr>
            <p:cNvPr id="15" name="Rectangle 15"/>
            <p:cNvSpPr/>
            <p:nvPr/>
          </p:nvSpPr>
          <p:spPr>
            <a:xfrm>
              <a:off x="4572000" y="1905000"/>
              <a:ext cx="3429000" cy="3048000"/>
            </a:xfrm>
            <a:prstGeom prst="roundRect">
              <a:avLst>
                <a:gd name="adj" fmla="val 437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50130" y="2219325"/>
              <a:ext cx="1319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阶段二 · 复赛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48606" y="2663190"/>
              <a:ext cx="20210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业务系统 MCP 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50892" y="3188018"/>
              <a:ext cx="20493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Mock 业务系统封装 MCP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50892" y="3511868"/>
              <a:ext cx="14058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知识库 RAG 检索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50892" y="38357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可观测指标跑分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76844" y="3294698"/>
            <a:ext cx="164192" cy="381381"/>
            <a:chOff x="8276844" y="3294698"/>
            <a:chExt cx="164192" cy="381381"/>
          </a:xfrm>
        </p:grpSpPr>
        <p:sp>
          <p:nvSpPr>
            <p:cNvPr id="22" name="TextBox 22"/>
            <p:cNvSpPr txBox="1"/>
            <p:nvPr/>
          </p:nvSpPr>
          <p:spPr>
            <a:xfrm>
              <a:off x="8276844" y="32946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→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1905000"/>
            <a:ext cx="3048000" cy="3048000"/>
            <a:chOff x="8572500" y="1905000"/>
            <a:chExt cx="3048000" cy="3048000"/>
          </a:xfrm>
        </p:grpSpPr>
        <p:sp>
          <p:nvSpPr>
            <p:cNvPr id="24" name="Rectangle 24"/>
            <p:cNvSpPr/>
            <p:nvPr/>
          </p:nvSpPr>
          <p:spPr>
            <a:xfrm>
              <a:off x="8572500" y="1905000"/>
              <a:ext cx="3048000" cy="3048000"/>
            </a:xfrm>
            <a:prstGeom prst="roundRect">
              <a:avLst>
                <a:gd name="adj" fmla="val 4375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50630" y="2219325"/>
              <a:ext cx="13192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阶段三 · 决赛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849106" y="26631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指标量化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51392" y="3188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自动化率 / 闭环率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51392" y="3511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意图准确率量化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51392" y="3835718"/>
              <a:ext cx="11716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Skill 市场发布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5334000"/>
            <a:ext cx="11049000" cy="666750"/>
            <a:chOff x="571500" y="5334000"/>
            <a:chExt cx="11049000" cy="666750"/>
          </a:xfrm>
        </p:grpSpPr>
        <p:sp>
          <p:nvSpPr>
            <p:cNvPr id="31" name="Rectangle 31"/>
            <p:cNvSpPr/>
            <p:nvPr/>
          </p:nvSpPr>
          <p:spPr>
            <a:xfrm>
              <a:off x="571500" y="53340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chemeClr val="lt1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74281" y="5555456"/>
              <a:ext cx="201506" cy="185737"/>
              <a:chOff x="874281" y="5555456"/>
              <a:chExt cx="201506" cy="18573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74281" y="555545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12031" y="569991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50442" y="556926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风险控制：审批越权风险已通过合规复盘闭环，沉淀强约束规则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37" name="Line 37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17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563118" y="2907982"/>
            <a:ext cx="683133" cy="322707"/>
            <a:chOff x="563118" y="2907982"/>
            <a:chExt cx="683133" cy="322707"/>
          </a:xfrm>
        </p:grpSpPr>
        <p:sp>
          <p:nvSpPr>
            <p:cNvPr id="2" name="TextBox 2"/>
            <p:cNvSpPr txBox="1"/>
            <p:nvPr/>
          </p:nvSpPr>
          <p:spPr>
            <a:xfrm>
              <a:off x="563118" y="29079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第八章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52450" y="3451860"/>
            <a:ext cx="2412797" cy="819150"/>
            <a:chOff x="552450" y="3451860"/>
            <a:chExt cx="2412797" cy="819150"/>
          </a:xfrm>
        </p:grpSpPr>
        <p:sp>
          <p:nvSpPr>
            <p:cNvPr id="4" name="TextBox 4"/>
            <p:cNvSpPr txBox="1"/>
            <p:nvPr/>
          </p:nvSpPr>
          <p:spPr>
            <a:xfrm>
              <a:off x="552450" y="3451860"/>
              <a:ext cx="241279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团队介绍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63880" y="4314825"/>
            <a:ext cx="2034540" cy="293370"/>
            <a:chOff x="563880" y="4314825"/>
            <a:chExt cx="203454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563880" y="4314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成员背景、分工与成果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8" name="Line 8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18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6260" y="575310"/>
            <a:ext cx="1726692" cy="849630"/>
            <a:chOff x="556260" y="575310"/>
            <a:chExt cx="1726692" cy="849630"/>
          </a:xfrm>
        </p:grpSpPr>
        <p:sp>
          <p:nvSpPr>
            <p:cNvPr id="2" name="TextBox 2"/>
            <p:cNvSpPr txBox="1"/>
            <p:nvPr/>
          </p:nvSpPr>
          <p:spPr>
            <a:xfrm>
              <a:off x="565404" y="5753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第八章 · 团队介绍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6260" y="838200"/>
              <a:ext cx="17266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团队成员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1500" y="1714500"/>
            <a:ext cx="5334000" cy="1905000"/>
            <a:chOff x="571500" y="1714500"/>
            <a:chExt cx="5334000" cy="1905000"/>
          </a:xfrm>
        </p:grpSpPr>
        <p:sp>
          <p:nvSpPr>
            <p:cNvPr id="5" name="Rectangle 5"/>
            <p:cNvSpPr/>
            <p:nvPr/>
          </p:nvSpPr>
          <p:spPr>
            <a:xfrm>
              <a:off x="571500" y="1714500"/>
              <a:ext cx="5334000" cy="1905000"/>
            </a:xfrm>
            <a:prstGeom prst="roundRect">
              <a:avLst>
                <a:gd name="adj" fmla="val 7000"/>
              </a:avLst>
            </a:prstGeom>
            <a:solidFill>
              <a:srgbClr val="FFFFFF"/>
            </a:solidFill>
            <a:ln w="9525">
              <a:solidFill>
                <a:srgbClr val="F0E0CC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00112" y="2043112"/>
              <a:ext cx="257175" cy="257176"/>
              <a:chOff x="900112" y="2043112"/>
              <a:chExt cx="257175" cy="25717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928688" y="20431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00112" y="22145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85850" y="20449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4425" y="22167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48868" y="2526982"/>
              <a:ext cx="118301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成员</a:t>
              </a:r>
              <a:r>
                <a:rPr lang="en-US" altLang="zh-CN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lang="zh-CN" altLang="en-US" sz="1650" b="1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徐浩文</a:t>
              </a:r>
              <a:endParaRPr lang="zh-CN" sz="1650" b="1" dirty="0">
                <a:solidFill>
                  <a:schemeClr val="dk1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0773" y="2929414"/>
              <a:ext cx="1308050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8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杭州电子科技大学</a:t>
              </a:r>
              <a:endParaRPr lang="zh-CN" sz="1280" dirty="0">
                <a:solidFill>
                  <a:srgbClr val="8C7A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0773" y="3215164"/>
              <a:ext cx="65" cy="1969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80" dirty="0">
                <a:solidFill>
                  <a:srgbClr val="8C7A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6166" y="6496050"/>
            <a:ext cx="11059668" cy="320611"/>
            <a:chOff x="566166" y="6496050"/>
            <a:chExt cx="11059668" cy="320611"/>
          </a:xfrm>
        </p:grpSpPr>
        <p:sp>
          <p:nvSpPr>
            <p:cNvPr id="45" name="Line 45"/>
            <p:cNvSpPr/>
            <p:nvPr/>
          </p:nvSpPr>
          <p:spPr>
            <a:xfrm>
              <a:off x="571500" y="64960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F0E0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6166" y="6611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灵犀客服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459680" y="66113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C7A6B"/>
                  </a:solidFill>
                  <a:latin typeface="Microsoft YaHei"/>
                  <a:ea typeface="Microsoft YaHei"/>
                  <a:cs typeface="Microsoft YaHei"/>
                </a:rPr>
                <a:t>19</a:t>
              </a: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E47C2D46-699D-78BA-5845-E847FAD15781}"/>
              </a:ext>
            </a:extLst>
          </p:cNvPr>
          <p:cNvSpPr txBox="1"/>
          <p:nvPr/>
        </p:nvSpPr>
        <p:spPr>
          <a:xfrm>
            <a:off x="758472" y="3146473"/>
            <a:ext cx="37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单人团队，所有内容均为本人完成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lingxi-chusai">
  <a:themeElements>
    <a:clrScheme name="lingxi-chusai">
      <a:dk1>
        <a:srgbClr val="3B2C24"/>
      </a:dk1>
      <a:lt1>
        <a:srgbClr val="FDF4E7"/>
      </a:lt1>
      <a:dk2>
        <a:srgbClr val="1F497D"/>
      </a:dk2>
      <a:lt2>
        <a:srgbClr val="FDF4E7"/>
      </a:lt2>
      <a:accent1>
        <a:srgbClr val="E8590C"/>
      </a:accent1>
      <a:accent2>
        <a:srgbClr val="F5A524"/>
      </a:accent2>
      <a:accent3>
        <a:srgbClr val="E76F51"/>
      </a:accent3>
      <a:accent4>
        <a:srgbClr val="E8590C"/>
      </a:accent4>
      <a:accent5>
        <a:srgbClr val="4BACC6"/>
      </a:accent5>
      <a:accent6>
        <a:srgbClr val="F79646"/>
      </a:accent6>
      <a:hlink>
        <a:srgbClr val="F5A524"/>
      </a:hlink>
      <a:folHlink>
        <a:srgbClr val="E76F51"/>
      </a:folHlink>
    </a:clrScheme>
    <a:fontScheme name="lingxi-chusai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ingxi-chusa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1139</Words>
  <Application>Microsoft Office PowerPoint</Application>
  <PresentationFormat>宽屏</PresentationFormat>
  <Paragraphs>270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Microsoft YaHei</vt:lpstr>
      <vt:lpstr>Arial</vt:lpstr>
      <vt:lpstr>Segoe UI</vt:lpstr>
      <vt:lpstr>lingxi-chusai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2929100669@qq.com</cp:lastModifiedBy>
  <cp:revision>4</cp:revision>
  <dcterms:created xsi:type="dcterms:W3CDTF">2026-08-13T11:38:17Z</dcterms:created>
  <dcterms:modified xsi:type="dcterms:W3CDTF">2026-08-13T11:52:08Z</dcterms:modified>
  <cp:category/>
  <cp:contentStatus/>
  <dc:language>zh-CN</dc:language>
</cp:coreProperties>
</file>